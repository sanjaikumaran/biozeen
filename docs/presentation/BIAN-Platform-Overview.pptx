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6ea2f4-04d9-8326-7882-dffe2538dd50}">
          <p14:sldIdLst>
            <p14:sldId id="256"/>
            <p14:sldId id="257"/>
            <p14:sldId id="258"/>
          </p14:sldIdLst>
        </p14:section>
        <p14:section name="Public website and joining" id="{a28d044e-61f0-4404-30c8-046d37dd2738}">
          <p14:sldIdLst>
            <p14:sldId id="259"/>
            <p14:sldId id="260"/>
            <p14:sldId id="261"/>
            <p14:sldId id="262"/>
          </p14:sldIdLst>
        </p14:section>
        <p14:section name="Members" id="{da539622-95a6-9987-972c-e1ac81896e1e}">
          <p14:sldIdLst>
            <p14:sldId id="263"/>
            <p14:sldId id="264"/>
            <p14:sldId id="265"/>
            <p14:sldId id="266"/>
            <p14:sldId id="267"/>
            <p14:sldId id="268"/>
          </p14:sldIdLst>
        </p14:section>
        <p14:section name="Biozeen staff" id="{4d968995-26b2-43fe-57b9-b29af65c3ffe}">
          <p14:sldIdLst>
            <p14:sldId id="269"/>
            <p14:sldId id="270"/>
            <p14:sldId id="271"/>
            <p14:sldId id="272"/>
            <p14:sldId id="273"/>
            <p14:sldId id="274"/>
          </p14:sldIdLst>
        </p14:section>
        <p14:section name="Across the platform" id="{455cf832-915d-c821-765d-c52eb6628490}">
          <p14:sldIdLst>
            <p14:sldId id="275"/>
            <p14:sldId id="276"/>
            <p14:sldId id="277"/>
            <p14:sldId id="278"/>
            <p14:sldId id="279"/>
          </p14:sldIdLst>
        </p14:section>
        <p14:section name="Next steps" id="{ce2b6f22-5dd4-5579-04b6-ea3f043b390e}">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BIAN platform for each kind of user: visitors, organisation and individual members, experts, and Biozeen staff. Every screen shown is from the working application with its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covers the full design: the public portfolio, a member portal for every category, and an admin workspace. Content is published through a visual block editor, so the team can update the site without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on the same page. What you see afterwards depends on your roles: members land on the Member Portal, staff on the Admin workspace. Category is who you are; roles decide what you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the public site and the registration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homepage numbers are counted live from the database, not typed in. Members-only items still appear in lists with a Members badge, which encourages visitors to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listing has an audience: public, all members, selected roles, selected organisations or administrators only. The server applies this to lists, detail pages, search and file downloads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has the three steps from the design. Email verification and admin approval protect the network. With sign-in codes enabled, members enter a 6-digit emailed code after their password. It expires in 10 minutes and locks after 5 wrong tries. Until a mailbox is set up, email stays disabled and codes are written to the server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what each member category does on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industry member's dashboard. Badges such as Members and Restricted show listings that visitors can't open. The organisation's public profile appears in the Partner Ecosystem only after BIAN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and roles are separate. A student gets the Member and Student roles, so content can be aimed at students only, or at all members. Content can target any role or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submissions never go live directly. They arrive as Pending review, publishers are notified in real time, and once published both the submitter and the target audience are notified.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and other individuals use the Knowledge Hub and courses. Lesson feedback goes into analytics that flag weak lessons for the content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Experts manage their own listing. Members request introductions with a purpose and message; the secretariat coordinates, so experts are never spammed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the admin workspace and the staff roles that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Biozeen Administrator has every permission. Changing the period recalculates all figures. The platform always keeps at least one administrator and records every change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CMS lets the team build pages from blocks: headings, rich text, images, galleries, video, downloads, tables, FAQs, calls to action and inline feedback forms. Editors cannot publish. Their review requests notify publishers.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Membership managers approve registrations and maintain the directories that feed the public Partner Ecosystem and Experts Network. Suspending a member ends their sessions and live connection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forms are versioned, so editing questions never corrupts earlier answers. Seeing who submitted identified feedback needs its own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arrives as a live notification. Clicking it opens the request directly. Replies reach the member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features shared by every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bell with an unread badge sits in the header for every signed-in user. New notifications pop up instantly over a secure live connection that uses the same session as the site. They are kept for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Appearance is a per-user setting under Dashboard → Appearance. The whole interface, including charts, re-colours from the same design tokens, so dark mode is designed rather than inverted.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only reflects the rules; the API enforces them. 26 automated tests cover audience filtering, publishing rights, session revocation, protected files, feedback privacy, sign-in codes and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solves the missing-data problem when setting up on a different machine. The export uses MongoDB Extended JSON, so IDs and dates keep their types. All behaviour switches live in server/.env.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functionally complete. Going live needs approved content in place of the sample data, real logos, a configured mailbox, production secrets and backups of the database and uploads. Role-by-role user guides are in docs/user-guides.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D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515600" cy="137160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731520" y="3703320"/>
            <a:ext cx="1005840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4D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BIAN · Platform overview</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515600" cy="1371600"/>
          </a:xfrm>
          <a:prstGeom prst="rect">
            <a:avLst/>
          </a:prstGeom>
          <a:noFill/>
          <a:ln/>
        </p:spPr>
        <p:txBody>
          <a:bodyPr wrap="square" lIns="0" tIns="0" rIns="0" bIns="0" rtlCol="0" anchor="b"/>
          <a:lstStyle/>
          <a:p>
            <a:pPr indent="0" marL="0">
              <a:buNone/>
            </a:pPr>
            <a:r>
              <a:rPr lang="en-US" sz="5400" b="1" dirty="0">
                <a:solidFill>
                  <a:schemeClr val="bg1"/>
                </a:solidFill>
              </a:rPr>
              <a:t>BIAN Platform</a:t>
            </a:r>
            <a:endParaRPr lang="en-US" sz="5400" dirty="0"/>
          </a:p>
        </p:txBody>
      </p:sp>
      <p:sp>
        <p:nvSpPr>
          <p:cNvPr id="3" name="Text 0"/>
          <p:cNvSpPr/>
          <p:nvPr>
            <p:ph idx="101" type="body" hasCustomPrompt="1"/>
          </p:nvPr>
        </p:nvSpPr>
        <p:spPr>
          <a:xfrm>
            <a:off x="731520" y="3703320"/>
            <a:ext cx="10058400" cy="1097280"/>
          </a:xfrm>
          <a:prstGeom prst="rect">
            <a:avLst/>
          </a:prstGeom>
          <a:noFill/>
          <a:ln/>
        </p:spPr>
        <p:txBody>
          <a:bodyPr wrap="square" lIns="0" tIns="0" rIns="0" bIns="0" rtlCol="0" anchor="t"/>
          <a:lstStyle/>
          <a:p>
            <a:pPr indent="0" marL="0">
              <a:buNone/>
            </a:pPr>
            <a:r>
              <a:rPr lang="en-US" sz="2200" dirty="0">
                <a:solidFill>
                  <a:schemeClr val="bg2"/>
                </a:solidFill>
              </a:rPr>
              <a:t>Biozeen Industry Academy Network: the website and member platform, role by role</a:t>
            </a:r>
            <a:endParaRPr lang="en-US" sz="2200" dirty="0"/>
          </a:p>
        </p:txBody>
      </p:sp>
      <p:sp>
        <p:nvSpPr>
          <p:cNvPr id="4" name="Logo mark"/>
          <p:cNvSpPr/>
          <p:nvPr/>
        </p:nvSpPr>
        <p:spPr>
          <a:xfrm>
            <a:off x="731520" y="1097280"/>
            <a:ext cx="822960" cy="822960"/>
          </a:xfrm>
          <a:prstGeom prst="ellipse">
            <a:avLst/>
          </a:prstGeom>
          <a:solidFill>
            <a:schemeClr val="accent2"/>
          </a:solidFill>
          <a:ln w="12700">
            <a:solidFill>
              <a:schemeClr val="accent2"/>
            </a:solidFill>
            <a:prstDash val="solid"/>
          </a:ln>
        </p:spPr>
      </p:sp>
      <p:pic>
        <p:nvPicPr>
          <p:cNvPr id="5" name="Logo icon" descr="BIAN mark">    </p:cNvPr>
          <p:cNvPicPr>
            <a:picLocks noChangeAspect="1"/>
          </p:cNvPicPr>
          <p:nvPr/>
        </p:nvPicPr>
        <p:blipFill>
          <a:blip r:embed="rId1"/>
          <a:stretch>
            <a:fillRect/>
          </a:stretch>
        </p:blipFill>
        <p:spPr>
          <a:xfrm>
            <a:off x="932688" y="1298448"/>
            <a:ext cx="420624" cy="420624"/>
          </a:xfrm>
          <a:prstGeom prst="rect">
            <a:avLst/>
          </a:prstGeom>
        </p:spPr>
      </p:pic>
      <p:sp>
        <p:nvSpPr>
          <p:cNvPr id="6" name="Tagline"/>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b="1" dirty="0">
                <a:solidFill>
                  <a:schemeClr val="accent2"/>
                </a:solidFill>
              </a:rPr>
              <a:t>Connect · Collaborate · Innovate · Grow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One platform connecting industry, academia and talent</a:t>
            </a:r>
            <a:endParaRPr lang="en-US" sz="3200" dirty="0"/>
          </a:p>
        </p:txBody>
      </p:sp>
      <p:sp>
        <p:nvSpPr>
          <p:cNvPr id="3" name="Stat 1"/>
          <p:cNvSpPr/>
          <p:nvPr/>
        </p:nvSpPr>
        <p:spPr>
          <a:xfrm>
            <a:off x="548640" y="1600200"/>
            <a:ext cx="2533574" cy="2377440"/>
          </a:xfrm>
          <a:prstGeom prst="roundRect">
            <a:avLst>
              <a:gd name="adj" fmla="val 3846"/>
            </a:avLst>
          </a:prstGeom>
          <a:solidFill>
            <a:schemeClr val="bg2"/>
          </a:solidFill>
          <a:ln w="12700">
            <a:solidFill>
              <a:schemeClr val="bg2"/>
            </a:solidFill>
            <a:prstDash val="solid"/>
          </a:ln>
        </p:spPr>
      </p:sp>
      <p:sp>
        <p:nvSpPr>
          <p:cNvPr id="4" name="Stat 1 value"/>
          <p:cNvSpPr txBox="1"/>
          <p:nvPr/>
        </p:nvSpPr>
        <p:spPr>
          <a:xfrm>
            <a:off x="822960" y="1783080"/>
            <a:ext cx="1984934" cy="1188720"/>
          </a:xfrm>
          <a:prstGeom prst="rect">
            <a:avLst/>
          </a:prstGeom>
          <a:noFill/>
          <a:ln/>
        </p:spPr>
        <p:txBody>
          <a:bodyPr wrap="square" lIns="0" tIns="0" rIns="0" bIns="0" rtlCol="0" anchor="t"/>
          <a:lstStyle/>
          <a:p>
            <a:pPr indent="0" marL="0">
              <a:buNone/>
            </a:pPr>
            <a:r>
              <a:rPr lang="en-US" sz="6600" b="1" dirty="0">
                <a:solidFill>
                  <a:schemeClr val="accent1"/>
                </a:solidFill>
              </a:rPr>
              <a:t>12</a:t>
            </a:r>
            <a:endParaRPr lang="en-US" sz="6600" dirty="0"/>
          </a:p>
        </p:txBody>
      </p:sp>
      <p:sp>
        <p:nvSpPr>
          <p:cNvPr id="5" name="Stat 1 label"/>
          <p:cNvSpPr txBox="1"/>
          <p:nvPr/>
        </p:nvSpPr>
        <p:spPr>
          <a:xfrm>
            <a:off x="822960" y="2926080"/>
            <a:ext cx="1984934" cy="914400"/>
          </a:xfrm>
          <a:prstGeom prst="rect">
            <a:avLst/>
          </a:prstGeom>
          <a:noFill/>
          <a:ln/>
        </p:spPr>
        <p:txBody>
          <a:bodyPr wrap="square" lIns="0" tIns="0" rIns="0" bIns="0" rtlCol="0" anchor="t"/>
          <a:lstStyle/>
          <a:p>
            <a:pPr indent="0" marL="0">
              <a:buNone/>
            </a:pPr>
            <a:r>
              <a:rPr lang="en-US" sz="1600" dirty="0">
                <a:solidFill>
                  <a:schemeClr val="tx1"/>
                </a:solidFill>
              </a:rPr>
              <a:t>screens from the BIAN website design, all built</a:t>
            </a:r>
            <a:endParaRPr lang="en-US" sz="1600" dirty="0"/>
          </a:p>
        </p:txBody>
      </p:sp>
      <p:sp>
        <p:nvSpPr>
          <p:cNvPr id="6" name="Stat 2"/>
          <p:cNvSpPr/>
          <p:nvPr/>
        </p:nvSpPr>
        <p:spPr>
          <a:xfrm>
            <a:off x="3402254" y="1600200"/>
            <a:ext cx="2533574" cy="2377440"/>
          </a:xfrm>
          <a:prstGeom prst="roundRect">
            <a:avLst>
              <a:gd name="adj" fmla="val 3846"/>
            </a:avLst>
          </a:prstGeom>
          <a:solidFill>
            <a:schemeClr val="bg2"/>
          </a:solidFill>
          <a:ln w="12700">
            <a:solidFill>
              <a:schemeClr val="bg2"/>
            </a:solidFill>
            <a:prstDash val="solid"/>
          </a:ln>
        </p:spPr>
      </p:sp>
      <p:sp>
        <p:nvSpPr>
          <p:cNvPr id="7" name="Stat 2 value"/>
          <p:cNvSpPr txBox="1"/>
          <p:nvPr/>
        </p:nvSpPr>
        <p:spPr>
          <a:xfrm>
            <a:off x="3676574" y="1783080"/>
            <a:ext cx="1984934" cy="1188720"/>
          </a:xfrm>
          <a:prstGeom prst="rect">
            <a:avLst/>
          </a:prstGeom>
          <a:noFill/>
          <a:ln/>
        </p:spPr>
        <p:txBody>
          <a:bodyPr wrap="square" lIns="0" tIns="0" rIns="0" bIns="0" rtlCol="0" anchor="t"/>
          <a:lstStyle/>
          <a:p>
            <a:pPr indent="0" marL="0">
              <a:buNone/>
            </a:pPr>
            <a:r>
              <a:rPr lang="en-US" sz="6600" b="1" dirty="0">
                <a:solidFill>
                  <a:schemeClr val="accent1"/>
                </a:solidFill>
              </a:rPr>
              <a:t>7</a:t>
            </a:r>
            <a:endParaRPr lang="en-US" sz="6600" dirty="0"/>
          </a:p>
        </p:txBody>
      </p:sp>
      <p:sp>
        <p:nvSpPr>
          <p:cNvPr id="8" name="Stat 2 label"/>
          <p:cNvSpPr txBox="1"/>
          <p:nvPr/>
        </p:nvSpPr>
        <p:spPr>
          <a:xfrm>
            <a:off x="3676574" y="2926080"/>
            <a:ext cx="1984934" cy="914400"/>
          </a:xfrm>
          <a:prstGeom prst="rect">
            <a:avLst/>
          </a:prstGeom>
          <a:noFill/>
          <a:ln/>
        </p:spPr>
        <p:txBody>
          <a:bodyPr wrap="square" lIns="0" tIns="0" rIns="0" bIns="0" rtlCol="0" anchor="t"/>
          <a:lstStyle/>
          <a:p>
            <a:pPr indent="0" marL="0">
              <a:buNone/>
            </a:pPr>
            <a:r>
              <a:rPr lang="en-US" sz="1600" dirty="0">
                <a:solidFill>
                  <a:schemeClr val="tx1"/>
                </a:solidFill>
              </a:rPr>
              <a:t>member categories, each with its own access</a:t>
            </a:r>
            <a:endParaRPr lang="en-US" sz="1600" dirty="0"/>
          </a:p>
        </p:txBody>
      </p:sp>
      <p:sp>
        <p:nvSpPr>
          <p:cNvPr id="9" name="Stat 3"/>
          <p:cNvSpPr/>
          <p:nvPr/>
        </p:nvSpPr>
        <p:spPr>
          <a:xfrm>
            <a:off x="6255868" y="1600200"/>
            <a:ext cx="2533574" cy="2377440"/>
          </a:xfrm>
          <a:prstGeom prst="roundRect">
            <a:avLst>
              <a:gd name="adj" fmla="val 3846"/>
            </a:avLst>
          </a:prstGeom>
          <a:solidFill>
            <a:schemeClr val="bg2"/>
          </a:solidFill>
          <a:ln w="12700">
            <a:solidFill>
              <a:schemeClr val="bg2"/>
            </a:solidFill>
            <a:prstDash val="solid"/>
          </a:ln>
        </p:spPr>
      </p:sp>
      <p:sp>
        <p:nvSpPr>
          <p:cNvPr id="10" name="Stat 3 value"/>
          <p:cNvSpPr txBox="1"/>
          <p:nvPr/>
        </p:nvSpPr>
        <p:spPr>
          <a:xfrm>
            <a:off x="6530188" y="1783080"/>
            <a:ext cx="1984934" cy="1188720"/>
          </a:xfrm>
          <a:prstGeom prst="rect">
            <a:avLst/>
          </a:prstGeom>
          <a:noFill/>
          <a:ln/>
        </p:spPr>
        <p:txBody>
          <a:bodyPr wrap="square" lIns="0" tIns="0" rIns="0" bIns="0" rtlCol="0" anchor="t"/>
          <a:lstStyle/>
          <a:p>
            <a:pPr indent="0" marL="0">
              <a:buNone/>
            </a:pPr>
            <a:r>
              <a:rPr lang="en-US" sz="6600" b="1" dirty="0">
                <a:solidFill>
                  <a:schemeClr val="accent1"/>
                </a:solidFill>
              </a:rPr>
              <a:t>4</a:t>
            </a:r>
            <a:endParaRPr lang="en-US" sz="6600" dirty="0"/>
          </a:p>
        </p:txBody>
      </p:sp>
      <p:sp>
        <p:nvSpPr>
          <p:cNvPr id="11" name="Stat 3 label"/>
          <p:cNvSpPr txBox="1"/>
          <p:nvPr/>
        </p:nvSpPr>
        <p:spPr>
          <a:xfrm>
            <a:off x="6530188" y="2926080"/>
            <a:ext cx="1984934" cy="914400"/>
          </a:xfrm>
          <a:prstGeom prst="rect">
            <a:avLst/>
          </a:prstGeom>
          <a:noFill/>
          <a:ln/>
        </p:spPr>
        <p:txBody>
          <a:bodyPr wrap="square" lIns="0" tIns="0" rIns="0" bIns="0" rtlCol="0" anchor="t"/>
          <a:lstStyle/>
          <a:p>
            <a:pPr indent="0" marL="0">
              <a:buNone/>
            </a:pPr>
            <a:r>
              <a:rPr lang="en-US" sz="1600" dirty="0">
                <a:solidFill>
                  <a:schemeClr val="tx1"/>
                </a:solidFill>
              </a:rPr>
              <a:t>staff roles, plus custom roles and permissions</a:t>
            </a:r>
            <a:endParaRPr lang="en-US" sz="1600" dirty="0"/>
          </a:p>
        </p:txBody>
      </p:sp>
      <p:sp>
        <p:nvSpPr>
          <p:cNvPr id="12" name="Stat 4"/>
          <p:cNvSpPr/>
          <p:nvPr/>
        </p:nvSpPr>
        <p:spPr>
          <a:xfrm>
            <a:off x="9109481" y="1600200"/>
            <a:ext cx="2533574" cy="2377440"/>
          </a:xfrm>
          <a:prstGeom prst="roundRect">
            <a:avLst>
              <a:gd name="adj" fmla="val 3846"/>
            </a:avLst>
          </a:prstGeom>
          <a:solidFill>
            <a:schemeClr val="bg2"/>
          </a:solidFill>
          <a:ln w="12700">
            <a:solidFill>
              <a:schemeClr val="bg2"/>
            </a:solidFill>
            <a:prstDash val="solid"/>
          </a:ln>
        </p:spPr>
      </p:sp>
      <p:sp>
        <p:nvSpPr>
          <p:cNvPr id="13" name="Stat 4 value"/>
          <p:cNvSpPr txBox="1"/>
          <p:nvPr/>
        </p:nvSpPr>
        <p:spPr>
          <a:xfrm>
            <a:off x="9383801" y="1783080"/>
            <a:ext cx="1984934" cy="1188720"/>
          </a:xfrm>
          <a:prstGeom prst="rect">
            <a:avLst/>
          </a:prstGeom>
          <a:noFill/>
          <a:ln/>
        </p:spPr>
        <p:txBody>
          <a:bodyPr wrap="square" lIns="0" tIns="0" rIns="0" bIns="0" rtlCol="0" anchor="t"/>
          <a:lstStyle/>
          <a:p>
            <a:pPr indent="0" marL="0">
              <a:buNone/>
            </a:pPr>
            <a:r>
              <a:rPr lang="en-US" sz="6600" b="1" dirty="0">
                <a:solidFill>
                  <a:schemeClr val="accent1"/>
                </a:solidFill>
              </a:rPr>
              <a:t>17</a:t>
            </a:r>
            <a:endParaRPr lang="en-US" sz="6600" dirty="0"/>
          </a:p>
        </p:txBody>
      </p:sp>
      <p:sp>
        <p:nvSpPr>
          <p:cNvPr id="14" name="Stat 4 label"/>
          <p:cNvSpPr txBox="1"/>
          <p:nvPr/>
        </p:nvSpPr>
        <p:spPr>
          <a:xfrm>
            <a:off x="9383801" y="2926080"/>
            <a:ext cx="1984934" cy="914400"/>
          </a:xfrm>
          <a:prstGeom prst="rect">
            <a:avLst/>
          </a:prstGeom>
          <a:noFill/>
          <a:ln/>
        </p:spPr>
        <p:txBody>
          <a:bodyPr wrap="square" lIns="0" tIns="0" rIns="0" bIns="0" rtlCol="0" anchor="t"/>
          <a:lstStyle/>
          <a:p>
            <a:pPr indent="0" marL="0">
              <a:buNone/>
            </a:pPr>
            <a:r>
              <a:rPr lang="en-US" sz="1600" dirty="0">
                <a:solidFill>
                  <a:schemeClr val="tx1"/>
                </a:solidFill>
              </a:rPr>
              <a:t>page-builder blocks for publishing without code</a:t>
            </a:r>
            <a:endParaRPr lang="en-US" sz="1600" dirty="0"/>
          </a:p>
        </p:txBody>
      </p:sp>
      <p:sp>
        <p:nvSpPr>
          <p:cNvPr id="15" name="Scope line"/>
          <p:cNvSpPr txBox="1"/>
          <p:nvPr/>
        </p:nvSpPr>
        <p:spPr>
          <a:xfrm>
            <a:off x="548640" y="4389120"/>
            <a:ext cx="11094415" cy="685800"/>
          </a:xfrm>
          <a:prstGeom prst="rect">
            <a:avLst/>
          </a:prstGeom>
          <a:noFill/>
          <a:ln/>
        </p:spPr>
        <p:txBody>
          <a:bodyPr wrap="square" lIns="0" tIns="0" rIns="0" bIns="0" rtlCol="0" anchor="t"/>
          <a:lstStyle/>
          <a:p>
            <a:pPr indent="0" marL="0">
              <a:buNone/>
            </a:pPr>
            <a:r>
              <a:rPr lang="en-US" sz="1800" b="1" dirty="0">
                <a:solidFill>
                  <a:schemeClr val="tx2"/>
                </a:solidFill>
              </a:rPr>
              <a:t>Public portfolio site · member portal · admin workspace · visual CMS · feedback analytics · live notifications</a:t>
            </a:r>
            <a:endParaRPr lang="en-US" sz="1800" dirty="0"/>
          </a:p>
        </p:txBody>
      </p:sp>
      <p:sp>
        <p:nvSpPr>
          <p:cNvPr id="16" name="Tech line"/>
          <p:cNvSpPr txBox="1"/>
          <p:nvPr/>
        </p:nvSpPr>
        <p:spPr>
          <a:xfrm>
            <a:off x="548640" y="5212080"/>
            <a:ext cx="11094415" cy="640080"/>
          </a:xfrm>
          <a:prstGeom prst="rect">
            <a:avLst/>
          </a:prstGeom>
          <a:noFill/>
          <a:ln/>
        </p:spPr>
        <p:txBody>
          <a:bodyPr wrap="square" lIns="0" tIns="0" rIns="0" bIns="0" rtlCol="0" anchor="t"/>
          <a:lstStyle/>
          <a:p>
            <a:pPr indent="0" marL="0">
              <a:buNone/>
            </a:pPr>
            <a:r>
              <a:rPr lang="en-US" sz="1600" dirty="0">
                <a:solidFill>
                  <a:schemeClr val="accent6"/>
                </a:solidFill>
              </a:rPr>
              <a:t>Built with React, Node.js and MongoDB. Every access rule is enforced on the server and covered by automated tests.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Five kinds of user, one sign-in</a:t>
            </a:r>
            <a:endParaRPr lang="en-US" sz="3200" dirty="0"/>
          </a:p>
        </p:txBody>
      </p:sp>
      <p:sp>
        <p:nvSpPr>
          <p:cNvPr id="3" name="Visitors card"/>
          <p:cNvSpPr/>
          <p:nvPr/>
        </p:nvSpPr>
        <p:spPr>
          <a:xfrm>
            <a:off x="548640" y="1600200"/>
            <a:ext cx="1999427" cy="4206240"/>
          </a:xfrm>
          <a:prstGeom prst="roundRect">
            <a:avLst>
              <a:gd name="adj" fmla="val 4573"/>
            </a:avLst>
          </a:prstGeom>
          <a:solidFill>
            <a:schemeClr val="bg2"/>
          </a:solidFill>
          <a:ln w="12700">
            <a:solidFill>
              <a:schemeClr val="bg2"/>
            </a:solidFill>
            <a:prstDash val="solid"/>
          </a:ln>
        </p:spPr>
      </p:sp>
      <p:sp>
        <p:nvSpPr>
          <p:cNvPr id="4" name="Visitors circl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5" name="Visitors icon" descr="preencoded.png">    </p:cNvPr>
          <p:cNvPicPr>
            <a:picLocks noChangeAspect="1"/>
          </p:cNvPicPr>
          <p:nvPr/>
        </p:nvPicPr>
        <p:blipFill>
          <a:blip r:embed="rId1"/>
          <a:stretch>
            <a:fillRect/>
          </a:stretch>
        </p:blipFill>
        <p:spPr>
          <a:xfrm>
            <a:off x="994410" y="2045970"/>
            <a:ext cx="342900" cy="342900"/>
          </a:xfrm>
          <a:prstGeom prst="rect">
            <a:avLst/>
          </a:prstGeom>
        </p:spPr>
      </p:pic>
      <p:sp>
        <p:nvSpPr>
          <p:cNvPr id="6" name="Visitors name"/>
          <p:cNvSpPr txBox="1"/>
          <p:nvPr/>
        </p:nvSpPr>
        <p:spPr>
          <a:xfrm>
            <a:off x="822960" y="2788920"/>
            <a:ext cx="1542227" cy="822960"/>
          </a:xfrm>
          <a:prstGeom prst="rect">
            <a:avLst/>
          </a:prstGeom>
          <a:noFill/>
          <a:ln/>
        </p:spPr>
        <p:txBody>
          <a:bodyPr wrap="square" lIns="0" tIns="0" rIns="0" bIns="0" rtlCol="0" anchor="t"/>
          <a:lstStyle/>
          <a:p>
            <a:pPr indent="0" marL="0">
              <a:buNone/>
            </a:pPr>
            <a:r>
              <a:rPr lang="en-US" sz="2000" b="1" dirty="0">
                <a:solidFill>
                  <a:schemeClr val="tx1"/>
                </a:solidFill>
              </a:rPr>
              <a:t>Visitors</a:t>
            </a:r>
            <a:endParaRPr lang="en-US" sz="2000" dirty="0"/>
          </a:p>
        </p:txBody>
      </p:sp>
      <p:sp>
        <p:nvSpPr>
          <p:cNvPr id="7" name="Visitors description"/>
          <p:cNvSpPr txBox="1"/>
          <p:nvPr/>
        </p:nvSpPr>
        <p:spPr>
          <a:xfrm>
            <a:off x="822960" y="3657600"/>
            <a:ext cx="1542227" cy="1920240"/>
          </a:xfrm>
          <a:prstGeom prst="rect">
            <a:avLst/>
          </a:prstGeom>
          <a:noFill/>
          <a:ln/>
        </p:spPr>
        <p:txBody>
          <a:bodyPr wrap="square" lIns="0" tIns="0" rIns="0" bIns="0" rtlCol="0" anchor="t"/>
          <a:lstStyle/>
          <a:p>
            <a:pPr indent="0" marL="0">
              <a:buNone/>
            </a:pPr>
            <a:r>
              <a:rPr lang="en-US" sz="1500" dirty="0">
                <a:solidFill>
                  <a:schemeClr val="tx1"/>
                </a:solidFill>
              </a:rPr>
              <a:t>Browse public pages, search, contact the secretariat, register</a:t>
            </a:r>
            <a:endParaRPr lang="en-US" sz="1500" dirty="0"/>
          </a:p>
        </p:txBody>
      </p:sp>
      <p:sp>
        <p:nvSpPr>
          <p:cNvPr id="8" name="Organisation members card"/>
          <p:cNvSpPr/>
          <p:nvPr/>
        </p:nvSpPr>
        <p:spPr>
          <a:xfrm>
            <a:off x="2822387" y="1600200"/>
            <a:ext cx="1999427" cy="4206240"/>
          </a:xfrm>
          <a:prstGeom prst="roundRect">
            <a:avLst>
              <a:gd name="adj" fmla="val 4573"/>
            </a:avLst>
          </a:prstGeom>
          <a:solidFill>
            <a:schemeClr val="bg2"/>
          </a:solidFill>
          <a:ln w="12700">
            <a:solidFill>
              <a:schemeClr val="bg2"/>
            </a:solidFill>
            <a:prstDash val="solid"/>
          </a:ln>
        </p:spPr>
      </p:sp>
      <p:sp>
        <p:nvSpPr>
          <p:cNvPr id="9" name="Organisation members circle"/>
          <p:cNvSpPr/>
          <p:nvPr/>
        </p:nvSpPr>
        <p:spPr>
          <a:xfrm>
            <a:off x="3096707" y="1874520"/>
            <a:ext cx="685800" cy="685800"/>
          </a:xfrm>
          <a:prstGeom prst="ellipse">
            <a:avLst/>
          </a:prstGeom>
          <a:solidFill>
            <a:schemeClr val="accent1"/>
          </a:solidFill>
          <a:ln w="12700">
            <a:solidFill>
              <a:schemeClr val="accent1"/>
            </a:solidFill>
            <a:prstDash val="solid"/>
          </a:ln>
        </p:spPr>
      </p:sp>
      <p:pic>
        <p:nvPicPr>
          <p:cNvPr id="10" name="Organisation members icon" descr="preencoded.png">    </p:cNvPr>
          <p:cNvPicPr>
            <a:picLocks noChangeAspect="1"/>
          </p:cNvPicPr>
          <p:nvPr/>
        </p:nvPicPr>
        <p:blipFill>
          <a:blip r:embed="rId2"/>
          <a:stretch>
            <a:fillRect/>
          </a:stretch>
        </p:blipFill>
        <p:spPr>
          <a:xfrm>
            <a:off x="3268157" y="2045970"/>
            <a:ext cx="342900" cy="342900"/>
          </a:xfrm>
          <a:prstGeom prst="rect">
            <a:avLst/>
          </a:prstGeom>
        </p:spPr>
      </p:pic>
      <p:sp>
        <p:nvSpPr>
          <p:cNvPr id="11" name="Organisation members name"/>
          <p:cNvSpPr txBox="1"/>
          <p:nvPr/>
        </p:nvSpPr>
        <p:spPr>
          <a:xfrm>
            <a:off x="3096707" y="2788920"/>
            <a:ext cx="1542227" cy="822960"/>
          </a:xfrm>
          <a:prstGeom prst="rect">
            <a:avLst/>
          </a:prstGeom>
          <a:noFill/>
          <a:ln/>
        </p:spPr>
        <p:txBody>
          <a:bodyPr wrap="square" lIns="0" tIns="0" rIns="0" bIns="0" rtlCol="0" anchor="t"/>
          <a:lstStyle/>
          <a:p>
            <a:pPr indent="0" marL="0">
              <a:buNone/>
            </a:pPr>
            <a:r>
              <a:rPr lang="en-US" sz="2000" b="1" dirty="0">
                <a:solidFill>
                  <a:schemeClr val="tx1"/>
                </a:solidFill>
              </a:rPr>
              <a:t>Organisation members</a:t>
            </a:r>
            <a:endParaRPr lang="en-US" sz="2000" dirty="0"/>
          </a:p>
        </p:txBody>
      </p:sp>
      <p:sp>
        <p:nvSpPr>
          <p:cNvPr id="12" name="Organisation members description"/>
          <p:cNvSpPr txBox="1"/>
          <p:nvPr/>
        </p:nvSpPr>
        <p:spPr>
          <a:xfrm>
            <a:off x="3096707" y="3657600"/>
            <a:ext cx="1542227" cy="1920240"/>
          </a:xfrm>
          <a:prstGeom prst="rect">
            <a:avLst/>
          </a:prstGeom>
          <a:noFill/>
          <a:ln/>
        </p:spPr>
        <p:txBody>
          <a:bodyPr wrap="square" lIns="0" tIns="0" rIns="0" bIns="0" rtlCol="0" anchor="t"/>
          <a:lstStyle/>
          <a:p>
            <a:pPr indent="0" marL="0">
              <a:buNone/>
            </a:pPr>
            <a:r>
              <a:rPr lang="en-US" sz="1500" dirty="0">
                <a:solidFill>
                  <a:schemeClr val="tx1"/>
                </a:solidFill>
              </a:rPr>
              <a:t>Startups, academia and industry: post requirements, find experts, manage a company profile</a:t>
            </a:r>
            <a:endParaRPr lang="en-US" sz="1500" dirty="0"/>
          </a:p>
        </p:txBody>
      </p:sp>
      <p:sp>
        <p:nvSpPr>
          <p:cNvPr id="13" name="Individual members card"/>
          <p:cNvSpPr/>
          <p:nvPr/>
        </p:nvSpPr>
        <p:spPr>
          <a:xfrm>
            <a:off x="5096134" y="1600200"/>
            <a:ext cx="1999427" cy="4206240"/>
          </a:xfrm>
          <a:prstGeom prst="roundRect">
            <a:avLst>
              <a:gd name="adj" fmla="val 4573"/>
            </a:avLst>
          </a:prstGeom>
          <a:solidFill>
            <a:schemeClr val="bg2"/>
          </a:solidFill>
          <a:ln w="12700">
            <a:solidFill>
              <a:schemeClr val="bg2"/>
            </a:solidFill>
            <a:prstDash val="solid"/>
          </a:ln>
        </p:spPr>
      </p:sp>
      <p:sp>
        <p:nvSpPr>
          <p:cNvPr id="14" name="Individual members circle"/>
          <p:cNvSpPr/>
          <p:nvPr/>
        </p:nvSpPr>
        <p:spPr>
          <a:xfrm>
            <a:off x="5370454" y="1874520"/>
            <a:ext cx="685800" cy="685800"/>
          </a:xfrm>
          <a:prstGeom prst="ellipse">
            <a:avLst/>
          </a:prstGeom>
          <a:solidFill>
            <a:schemeClr val="accent1"/>
          </a:solidFill>
          <a:ln w="12700">
            <a:solidFill>
              <a:schemeClr val="accent1"/>
            </a:solidFill>
            <a:prstDash val="solid"/>
          </a:ln>
        </p:spPr>
      </p:sp>
      <p:pic>
        <p:nvPicPr>
          <p:cNvPr id="15" name="Individual members icon" descr="preencoded.png">    </p:cNvPr>
          <p:cNvPicPr>
            <a:picLocks noChangeAspect="1"/>
          </p:cNvPicPr>
          <p:nvPr/>
        </p:nvPicPr>
        <p:blipFill>
          <a:blip r:embed="rId3"/>
          <a:stretch>
            <a:fillRect/>
          </a:stretch>
        </p:blipFill>
        <p:spPr>
          <a:xfrm>
            <a:off x="5541904" y="2045970"/>
            <a:ext cx="342900" cy="342900"/>
          </a:xfrm>
          <a:prstGeom prst="rect">
            <a:avLst/>
          </a:prstGeom>
        </p:spPr>
      </p:pic>
      <p:sp>
        <p:nvSpPr>
          <p:cNvPr id="16" name="Individual members name"/>
          <p:cNvSpPr txBox="1"/>
          <p:nvPr/>
        </p:nvSpPr>
        <p:spPr>
          <a:xfrm>
            <a:off x="5370454" y="2788920"/>
            <a:ext cx="1542227" cy="822960"/>
          </a:xfrm>
          <a:prstGeom prst="rect">
            <a:avLst/>
          </a:prstGeom>
          <a:noFill/>
          <a:ln/>
        </p:spPr>
        <p:txBody>
          <a:bodyPr wrap="square" lIns="0" tIns="0" rIns="0" bIns="0" rtlCol="0" anchor="t"/>
          <a:lstStyle/>
          <a:p>
            <a:pPr indent="0" marL="0">
              <a:buNone/>
            </a:pPr>
            <a:r>
              <a:rPr lang="en-US" sz="2000" b="1" dirty="0">
                <a:solidFill>
                  <a:schemeClr val="tx1"/>
                </a:solidFill>
              </a:rPr>
              <a:t>Individual members</a:t>
            </a:r>
            <a:endParaRPr lang="en-US" sz="2000" dirty="0"/>
          </a:p>
        </p:txBody>
      </p:sp>
      <p:sp>
        <p:nvSpPr>
          <p:cNvPr id="17" name="Individual members description"/>
          <p:cNvSpPr txBox="1"/>
          <p:nvPr/>
        </p:nvSpPr>
        <p:spPr>
          <a:xfrm>
            <a:off x="5370454" y="3657600"/>
            <a:ext cx="1542227" cy="1920240"/>
          </a:xfrm>
          <a:prstGeom prst="rect">
            <a:avLst/>
          </a:prstGeom>
          <a:noFill/>
          <a:ln/>
        </p:spPr>
        <p:txBody>
          <a:bodyPr wrap="square" lIns="0" tIns="0" rIns="0" bIns="0" rtlCol="0" anchor="t"/>
          <a:lstStyle/>
          <a:p>
            <a:pPr indent="0" marL="0">
              <a:buNone/>
            </a:pPr>
            <a:r>
              <a:rPr lang="en-US" sz="1500" dirty="0">
                <a:solidFill>
                  <a:schemeClr val="tx1"/>
                </a:solidFill>
              </a:rPr>
              <a:t>SMEs, alumni, students and professionals: opportunities, learning, events</a:t>
            </a:r>
            <a:endParaRPr lang="en-US" sz="1500" dirty="0"/>
          </a:p>
        </p:txBody>
      </p:sp>
      <p:sp>
        <p:nvSpPr>
          <p:cNvPr id="18" name="Experts card"/>
          <p:cNvSpPr/>
          <p:nvPr/>
        </p:nvSpPr>
        <p:spPr>
          <a:xfrm>
            <a:off x="7369881" y="1600200"/>
            <a:ext cx="1999427" cy="4206240"/>
          </a:xfrm>
          <a:prstGeom prst="roundRect">
            <a:avLst>
              <a:gd name="adj" fmla="val 4573"/>
            </a:avLst>
          </a:prstGeom>
          <a:solidFill>
            <a:schemeClr val="bg2"/>
          </a:solidFill>
          <a:ln w="12700">
            <a:solidFill>
              <a:schemeClr val="bg2"/>
            </a:solidFill>
            <a:prstDash val="solid"/>
          </a:ln>
        </p:spPr>
      </p:sp>
      <p:sp>
        <p:nvSpPr>
          <p:cNvPr id="19" name="Experts circle"/>
          <p:cNvSpPr/>
          <p:nvPr/>
        </p:nvSpPr>
        <p:spPr>
          <a:xfrm>
            <a:off x="7644201" y="1874520"/>
            <a:ext cx="685800" cy="685800"/>
          </a:xfrm>
          <a:prstGeom prst="ellipse">
            <a:avLst/>
          </a:prstGeom>
          <a:solidFill>
            <a:schemeClr val="accent1"/>
          </a:solidFill>
          <a:ln w="12700">
            <a:solidFill>
              <a:schemeClr val="accent1"/>
            </a:solidFill>
            <a:prstDash val="solid"/>
          </a:ln>
        </p:spPr>
      </p:sp>
      <p:pic>
        <p:nvPicPr>
          <p:cNvPr id="20" name="Experts icon" descr="preencoded.png">    </p:cNvPr>
          <p:cNvPicPr>
            <a:picLocks noChangeAspect="1"/>
          </p:cNvPicPr>
          <p:nvPr/>
        </p:nvPicPr>
        <p:blipFill>
          <a:blip r:embed="rId4"/>
          <a:stretch>
            <a:fillRect/>
          </a:stretch>
        </p:blipFill>
        <p:spPr>
          <a:xfrm>
            <a:off x="7815651" y="2045970"/>
            <a:ext cx="342900" cy="342900"/>
          </a:xfrm>
          <a:prstGeom prst="rect">
            <a:avLst/>
          </a:prstGeom>
        </p:spPr>
      </p:pic>
      <p:sp>
        <p:nvSpPr>
          <p:cNvPr id="21" name="Experts name"/>
          <p:cNvSpPr txBox="1"/>
          <p:nvPr/>
        </p:nvSpPr>
        <p:spPr>
          <a:xfrm>
            <a:off x="7644201" y="2788920"/>
            <a:ext cx="1542227" cy="822960"/>
          </a:xfrm>
          <a:prstGeom prst="rect">
            <a:avLst/>
          </a:prstGeom>
          <a:noFill/>
          <a:ln/>
        </p:spPr>
        <p:txBody>
          <a:bodyPr wrap="square" lIns="0" tIns="0" rIns="0" bIns="0" rtlCol="0" anchor="t"/>
          <a:lstStyle/>
          <a:p>
            <a:pPr indent="0" marL="0">
              <a:buNone/>
            </a:pPr>
            <a:r>
              <a:rPr lang="en-US" sz="2000" b="1" dirty="0">
                <a:solidFill>
                  <a:schemeClr val="tx1"/>
                </a:solidFill>
              </a:rPr>
              <a:t>Experts</a:t>
            </a:r>
            <a:endParaRPr lang="en-US" sz="2000" dirty="0"/>
          </a:p>
        </p:txBody>
      </p:sp>
      <p:sp>
        <p:nvSpPr>
          <p:cNvPr id="22" name="Experts description"/>
          <p:cNvSpPr txBox="1"/>
          <p:nvPr/>
        </p:nvSpPr>
        <p:spPr>
          <a:xfrm>
            <a:off x="7644201" y="3657600"/>
            <a:ext cx="1542227" cy="1920240"/>
          </a:xfrm>
          <a:prstGeom prst="rect">
            <a:avLst/>
          </a:prstGeom>
          <a:noFill/>
          <a:ln/>
        </p:spPr>
        <p:txBody>
          <a:bodyPr wrap="square" lIns="0" tIns="0" rIns="0" bIns="0" rtlCol="0" anchor="t"/>
          <a:lstStyle/>
          <a:p>
            <a:pPr indent="0" marL="0">
              <a:buNone/>
            </a:pPr>
            <a:r>
              <a:rPr lang="en-US" sz="1500" dirty="0">
                <a:solidFill>
                  <a:schemeClr val="tx1"/>
                </a:solidFill>
              </a:rPr>
              <a:t>Listed in the Experts Network with visibility they control</a:t>
            </a:r>
            <a:endParaRPr lang="en-US" sz="1500" dirty="0"/>
          </a:p>
        </p:txBody>
      </p:sp>
      <p:sp>
        <p:nvSpPr>
          <p:cNvPr id="23" name="Biozeen staff card"/>
          <p:cNvSpPr/>
          <p:nvPr/>
        </p:nvSpPr>
        <p:spPr>
          <a:xfrm>
            <a:off x="9643628" y="1600200"/>
            <a:ext cx="1999427" cy="4206240"/>
          </a:xfrm>
          <a:prstGeom prst="roundRect">
            <a:avLst>
              <a:gd name="adj" fmla="val 4573"/>
            </a:avLst>
          </a:prstGeom>
          <a:solidFill>
            <a:schemeClr val="bg2"/>
          </a:solidFill>
          <a:ln w="12700">
            <a:solidFill>
              <a:schemeClr val="bg2"/>
            </a:solidFill>
            <a:prstDash val="solid"/>
          </a:ln>
        </p:spPr>
      </p:sp>
      <p:sp>
        <p:nvSpPr>
          <p:cNvPr id="24" name="Biozeen staff circle"/>
          <p:cNvSpPr/>
          <p:nvPr/>
        </p:nvSpPr>
        <p:spPr>
          <a:xfrm>
            <a:off x="9917948" y="1874520"/>
            <a:ext cx="685800" cy="685800"/>
          </a:xfrm>
          <a:prstGeom prst="ellipse">
            <a:avLst/>
          </a:prstGeom>
          <a:solidFill>
            <a:schemeClr val="accent1"/>
          </a:solidFill>
          <a:ln w="12700">
            <a:solidFill>
              <a:schemeClr val="accent1"/>
            </a:solidFill>
            <a:prstDash val="solid"/>
          </a:ln>
        </p:spPr>
      </p:sp>
      <p:pic>
        <p:nvPicPr>
          <p:cNvPr id="25" name="Biozeen staff icon" descr="preencoded.png">    </p:cNvPr>
          <p:cNvPicPr>
            <a:picLocks noChangeAspect="1"/>
          </p:cNvPicPr>
          <p:nvPr/>
        </p:nvPicPr>
        <p:blipFill>
          <a:blip r:embed="rId5"/>
          <a:stretch>
            <a:fillRect/>
          </a:stretch>
        </p:blipFill>
        <p:spPr>
          <a:xfrm>
            <a:off x="10089398" y="2045970"/>
            <a:ext cx="342900" cy="342900"/>
          </a:xfrm>
          <a:prstGeom prst="rect">
            <a:avLst/>
          </a:prstGeom>
        </p:spPr>
      </p:pic>
      <p:sp>
        <p:nvSpPr>
          <p:cNvPr id="26" name="Biozeen staff name"/>
          <p:cNvSpPr txBox="1"/>
          <p:nvPr/>
        </p:nvSpPr>
        <p:spPr>
          <a:xfrm>
            <a:off x="9917948" y="2788920"/>
            <a:ext cx="1542227" cy="822960"/>
          </a:xfrm>
          <a:prstGeom prst="rect">
            <a:avLst/>
          </a:prstGeom>
          <a:noFill/>
          <a:ln/>
        </p:spPr>
        <p:txBody>
          <a:bodyPr wrap="square" lIns="0" tIns="0" rIns="0" bIns="0" rtlCol="0" anchor="t"/>
          <a:lstStyle/>
          <a:p>
            <a:pPr indent="0" marL="0">
              <a:buNone/>
            </a:pPr>
            <a:r>
              <a:rPr lang="en-US" sz="2000" b="1" dirty="0">
                <a:solidFill>
                  <a:schemeClr val="tx1"/>
                </a:solidFill>
              </a:rPr>
              <a:t>Biozeen staff</a:t>
            </a:r>
            <a:endParaRPr lang="en-US" sz="2000" dirty="0"/>
          </a:p>
        </p:txBody>
      </p:sp>
      <p:sp>
        <p:nvSpPr>
          <p:cNvPr id="27" name="Biozeen staff description"/>
          <p:cNvSpPr txBox="1"/>
          <p:nvPr/>
        </p:nvSpPr>
        <p:spPr>
          <a:xfrm>
            <a:off x="9917948" y="3657600"/>
            <a:ext cx="1542227" cy="1920240"/>
          </a:xfrm>
          <a:prstGeom prst="rect">
            <a:avLst/>
          </a:prstGeom>
          <a:noFill/>
          <a:ln/>
        </p:spPr>
        <p:txBody>
          <a:bodyPr wrap="square" lIns="0" tIns="0" rIns="0" bIns="0" rtlCol="0" anchor="t"/>
          <a:lstStyle/>
          <a:p>
            <a:pPr indent="0" marL="0">
              <a:buNone/>
            </a:pPr>
            <a:r>
              <a:rPr lang="en-US" sz="1500" dirty="0">
                <a:solidFill>
                  <a:schemeClr val="tx1"/>
                </a:solidFill>
              </a:rPr>
              <a:t>Administrators, content editors and publishers, membership managers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lIns="0" tIns="0" rIns="0" bIns="0" rtlCol="0" anchor="b"/>
          <a:lstStyle/>
          <a:p>
            <a:pPr indent="0" marL="0">
              <a:buNone/>
            </a:pPr>
            <a:r>
              <a:rPr lang="en-US" sz="4400" b="1" dirty="0">
                <a:solidFill>
                  <a:schemeClr val="bg1"/>
                </a:solidFill>
              </a:rPr>
              <a:t>Public website and joining</a:t>
            </a: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lIns="0" tIns="0" rIns="0" bIns="0" rtlCol="0" anchor="t"/>
          <a:lstStyle/>
          <a:p>
            <a:pPr indent="0" marL="0">
              <a:buNone/>
            </a:pPr>
            <a:r>
              <a:rPr lang="en-US" sz="2000" dirty="0">
                <a:solidFill>
                  <a:schemeClr val="bg2"/>
                </a:solidFill>
              </a:rPr>
              <a:t>What visitors see, and how they become members</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The public site shows BIAN's network to everyone</a:t>
            </a:r>
            <a:endParaRPr lang="en-US" sz="3200" dirty="0"/>
          </a:p>
        </p:txBody>
      </p:sp>
      <p:sp>
        <p:nvSpPr>
          <p:cNvPr id="3" name="BIAN homepage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BIAN homepage" descr="BIAN homepage">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Homepage</a:t>
            </a:r>
            <a:pPr indent="0" marL="0">
              <a:spcAft>
                <a:spcPts val="800"/>
              </a:spcAft>
              <a:buNone/>
            </a:pPr>
            <a:r>
              <a:rPr lang="en-US" sz="1600" dirty="0">
                <a:solidFill>
                  <a:schemeClr val="tx1"/>
                </a:solidFill>
              </a:rPr>
              <a:t> with live network numbers, latest opportunities, partners and events</a:t>
            </a:r>
            <a:endParaRPr lang="en-US" sz="1600" dirty="0"/>
          </a:p>
          <a:p>
            <a:pPr marL="342900" indent="-342900">
              <a:spcAft>
                <a:spcPts val="800"/>
              </a:spcAft>
              <a:buSzPct val="100000"/>
              <a:buChar char="•"/>
            </a:pPr>
            <a:r>
              <a:rPr lang="en-US" sz="1600" b="1" dirty="0">
                <a:solidFill>
                  <a:schemeClr val="tx1"/>
                </a:solidFill>
              </a:rPr>
              <a:t>Partner Ecosystem</a:t>
            </a:r>
            <a:pPr indent="0" marL="0">
              <a:spcAft>
                <a:spcPts val="800"/>
              </a:spcAft>
              <a:buNone/>
            </a:pPr>
            <a:r>
              <a:rPr lang="en-US" sz="1600" dirty="0">
                <a:solidFill>
                  <a:schemeClr val="tx1"/>
                </a:solidFill>
              </a:rPr>
              <a:t> by tier: founding, knowledge, industry, innovation</a:t>
            </a:r>
            <a:endParaRPr lang="en-US" sz="1600" dirty="0"/>
          </a:p>
          <a:p>
            <a:pPr marL="342900" indent="-342900">
              <a:spcAft>
                <a:spcPts val="800"/>
              </a:spcAft>
              <a:buSzPct val="100000"/>
              <a:buChar char="•"/>
            </a:pPr>
            <a:r>
              <a:rPr lang="en-US" sz="1600" b="1" dirty="0">
                <a:solidFill>
                  <a:schemeClr val="tx1"/>
                </a:solidFill>
              </a:rPr>
              <a:t>Opportunities, Knowledge Hub, Experts, Events</a:t>
            </a:r>
            <a:pPr indent="0" marL="0">
              <a:spcAft>
                <a:spcPts val="800"/>
              </a:spcAft>
              <a:buNone/>
            </a:pPr>
            <a:r>
              <a:rPr lang="en-US" sz="1600" dirty="0">
                <a:solidFill>
                  <a:schemeClr val="tx1"/>
                </a:solidFill>
              </a:rPr>
              <a:t> searchable and filterable</a:t>
            </a:r>
            <a:endParaRPr lang="en-US" sz="1600" dirty="0"/>
          </a:p>
          <a:p>
            <a:pPr marL="342900" indent="-342900">
              <a:spcAft>
                <a:spcPts val="800"/>
              </a:spcAft>
              <a:buSzPct val="100000"/>
              <a:buChar char="•"/>
            </a:pPr>
            <a:r>
              <a:rPr lang="en-US" sz="1600" b="1" dirty="0">
                <a:solidFill>
                  <a:schemeClr val="tx1"/>
                </a:solidFill>
              </a:rPr>
              <a:t>Contact &amp; Collaboration Center</a:t>
            </a:r>
            <a:pPr indent="0" marL="0">
              <a:spcAft>
                <a:spcPts val="800"/>
              </a:spcAft>
              <a:buNone/>
            </a:pPr>
            <a:r>
              <a:rPr lang="en-US" sz="1600" dirty="0">
                <a:solidFill>
                  <a:schemeClr val="tx1"/>
                </a:solidFill>
              </a:rPr>
              <a:t> for enquiries to the secretariat</a:t>
            </a:r>
            <a:endParaRPr lang="en-US" sz="1600" dirty="0"/>
          </a:p>
          <a:p>
            <a:pPr marL="342900" indent="-342900">
              <a:spcAft>
                <a:spcPts val="800"/>
              </a:spcAft>
              <a:buSzPct val="100000"/>
              <a:buChar char="•"/>
            </a:pPr>
            <a:r>
              <a:rPr lang="en-US" sz="1600" b="1" dirty="0">
                <a:solidFill>
                  <a:schemeClr val="tx1"/>
                </a:solidFill>
              </a:rPr>
              <a:t>Site-wide search</a:t>
            </a:r>
            <a:pPr indent="0" marL="0">
              <a:spcAft>
                <a:spcPts val="800"/>
              </a:spcAft>
              <a:buNone/>
            </a:pPr>
            <a:r>
              <a:rPr lang="en-US" sz="1600" dirty="0">
                <a:solidFill>
                  <a:schemeClr val="tx1"/>
                </a:solidFill>
              </a:rPr>
              <a:t> across every section</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Visitors see what exists; members-only items say so</a:t>
            </a:r>
            <a:endParaRPr lang="en-US" sz="3200" dirty="0"/>
          </a:p>
        </p:txBody>
      </p:sp>
      <p:sp>
        <p:nvSpPr>
          <p:cNvPr id="3" name="Opportunities Hub frame"/>
          <p:cNvSpPr/>
          <p:nvPr/>
        </p:nvSpPr>
        <p:spPr>
          <a:xfrm>
            <a:off x="548640" y="1581912"/>
            <a:ext cx="3423818" cy="2021910"/>
          </a:xfrm>
          <a:prstGeom prst="roundRect">
            <a:avLst>
              <a:gd name="adj" fmla="val 5427"/>
            </a:avLst>
          </a:prstGeom>
          <a:solidFill>
            <a:schemeClr val="bg2"/>
          </a:solidFill>
          <a:ln w="12700">
            <a:solidFill>
              <a:schemeClr val="bg2"/>
            </a:solidFill>
            <a:prstDash val="solid"/>
          </a:ln>
        </p:spPr>
      </p:sp>
      <p:pic>
        <p:nvPicPr>
          <p:cNvPr id="4" name="Opportunities Hub" descr="Opportunities Hub">    </p:cNvPr>
          <p:cNvPicPr>
            <a:picLocks noChangeAspect="1"/>
          </p:cNvPicPr>
          <p:nvPr/>
        </p:nvPicPr>
        <p:blipFill>
          <a:blip r:embed="rId1"/>
          <a:stretch>
            <a:fillRect/>
          </a:stretch>
        </p:blipFill>
        <p:spPr>
          <a:xfrm>
            <a:off x="658368" y="1691640"/>
            <a:ext cx="3204362" cy="1802454"/>
          </a:xfrm>
          <a:prstGeom prst="rect">
            <a:avLst/>
          </a:prstGeom>
        </p:spPr>
      </p:pic>
      <p:sp>
        <p:nvSpPr>
          <p:cNvPr id="5" name="Opportunities Hub caption"/>
          <p:cNvSpPr txBox="1"/>
          <p:nvPr/>
        </p:nvSpPr>
        <p:spPr>
          <a:xfrm>
            <a:off x="548640" y="4069080"/>
            <a:ext cx="3423818" cy="411480"/>
          </a:xfrm>
          <a:prstGeom prst="rect">
            <a:avLst/>
          </a:prstGeom>
          <a:noFill/>
          <a:ln/>
        </p:spPr>
        <p:txBody>
          <a:bodyPr wrap="square" lIns="0" tIns="0" rIns="0" bIns="0" rtlCol="0" anchor="t"/>
          <a:lstStyle/>
          <a:p>
            <a:pPr indent="0" marL="0">
              <a:buNone/>
            </a:pPr>
            <a:r>
              <a:rPr lang="en-US" sz="2000" b="1" dirty="0">
                <a:solidFill>
                  <a:schemeClr val="tx1"/>
                </a:solidFill>
              </a:rPr>
              <a:t>Opportunities Hub</a:t>
            </a:r>
            <a:endParaRPr lang="en-US" sz="2000" dirty="0"/>
          </a:p>
        </p:txBody>
      </p:sp>
      <p:sp>
        <p:nvSpPr>
          <p:cNvPr id="6" name="Opportunities Hub description"/>
          <p:cNvSpPr txBox="1"/>
          <p:nvPr/>
        </p:nvSpPr>
        <p:spPr>
          <a:xfrm>
            <a:off x="548640" y="4526280"/>
            <a:ext cx="3423818" cy="731520"/>
          </a:xfrm>
          <a:prstGeom prst="rect">
            <a:avLst/>
          </a:prstGeom>
          <a:noFill/>
          <a:ln/>
        </p:spPr>
        <p:txBody>
          <a:bodyPr wrap="square" lIns="0" tIns="0" rIns="0" bIns="0" rtlCol="0" anchor="t"/>
          <a:lstStyle/>
          <a:p>
            <a:pPr indent="0" marL="0">
              <a:buNone/>
            </a:pPr>
            <a:r>
              <a:rPr lang="en-US" sz="1500" dirty="0">
                <a:solidFill>
                  <a:schemeClr val="accent6"/>
                </a:solidFill>
              </a:rPr>
              <a:t>Jobs, internships, funding and technology transfer</a:t>
            </a:r>
            <a:endParaRPr lang="en-US" sz="1500" dirty="0"/>
          </a:p>
        </p:txBody>
      </p:sp>
      <p:sp>
        <p:nvSpPr>
          <p:cNvPr id="7" name="Knowledge Hub frame"/>
          <p:cNvSpPr/>
          <p:nvPr/>
        </p:nvSpPr>
        <p:spPr>
          <a:xfrm>
            <a:off x="4383938" y="1581912"/>
            <a:ext cx="3423818" cy="2021910"/>
          </a:xfrm>
          <a:prstGeom prst="roundRect">
            <a:avLst>
              <a:gd name="adj" fmla="val 5427"/>
            </a:avLst>
          </a:prstGeom>
          <a:solidFill>
            <a:schemeClr val="bg2"/>
          </a:solidFill>
          <a:ln w="12700">
            <a:solidFill>
              <a:schemeClr val="bg2"/>
            </a:solidFill>
            <a:prstDash val="solid"/>
          </a:ln>
        </p:spPr>
      </p:sp>
      <p:pic>
        <p:nvPicPr>
          <p:cNvPr id="8" name="Knowledge Hub" descr="Knowledge Hub">    </p:cNvPr>
          <p:cNvPicPr>
            <a:picLocks noChangeAspect="1"/>
          </p:cNvPicPr>
          <p:nvPr/>
        </p:nvPicPr>
        <p:blipFill>
          <a:blip r:embed="rId2"/>
          <a:stretch>
            <a:fillRect/>
          </a:stretch>
        </p:blipFill>
        <p:spPr>
          <a:xfrm>
            <a:off x="4493666" y="1691640"/>
            <a:ext cx="3204362" cy="1802454"/>
          </a:xfrm>
          <a:prstGeom prst="rect">
            <a:avLst/>
          </a:prstGeom>
        </p:spPr>
      </p:pic>
      <p:sp>
        <p:nvSpPr>
          <p:cNvPr id="9" name="Knowledge Hub caption"/>
          <p:cNvSpPr txBox="1"/>
          <p:nvPr/>
        </p:nvSpPr>
        <p:spPr>
          <a:xfrm>
            <a:off x="4383938" y="4069080"/>
            <a:ext cx="3423818" cy="411480"/>
          </a:xfrm>
          <a:prstGeom prst="rect">
            <a:avLst/>
          </a:prstGeom>
          <a:noFill/>
          <a:ln/>
        </p:spPr>
        <p:txBody>
          <a:bodyPr wrap="square" lIns="0" tIns="0" rIns="0" bIns="0" rtlCol="0" anchor="t"/>
          <a:lstStyle/>
          <a:p>
            <a:pPr indent="0" marL="0">
              <a:buNone/>
            </a:pPr>
            <a:r>
              <a:rPr lang="en-US" sz="2000" b="1" dirty="0">
                <a:solidFill>
                  <a:schemeClr val="tx1"/>
                </a:solidFill>
              </a:rPr>
              <a:t>Knowledge Hub</a:t>
            </a:r>
            <a:endParaRPr lang="en-US" sz="2000" dirty="0"/>
          </a:p>
        </p:txBody>
      </p:sp>
      <p:sp>
        <p:nvSpPr>
          <p:cNvPr id="10" name="Knowledge Hub description"/>
          <p:cNvSpPr txBox="1"/>
          <p:nvPr/>
        </p:nvSpPr>
        <p:spPr>
          <a:xfrm>
            <a:off x="4383938" y="4526280"/>
            <a:ext cx="3423818" cy="731520"/>
          </a:xfrm>
          <a:prstGeom prst="rect">
            <a:avLst/>
          </a:prstGeom>
          <a:noFill/>
          <a:ln/>
        </p:spPr>
        <p:txBody>
          <a:bodyPr wrap="square" lIns="0" tIns="0" rIns="0" bIns="0" rtlCol="0" anchor="t"/>
          <a:lstStyle/>
          <a:p>
            <a:pPr indent="0" marL="0">
              <a:buNone/>
            </a:pPr>
            <a:r>
              <a:rPr lang="en-US" sz="1500" dirty="0">
                <a:solidFill>
                  <a:schemeClr val="accent6"/>
                </a:solidFill>
              </a:rPr>
              <a:t>Insights, research, regulatory corner and courses</a:t>
            </a:r>
            <a:endParaRPr lang="en-US" sz="1500" dirty="0"/>
          </a:p>
        </p:txBody>
      </p:sp>
      <p:sp>
        <p:nvSpPr>
          <p:cNvPr id="11" name="Experts Network frame"/>
          <p:cNvSpPr/>
          <p:nvPr/>
        </p:nvSpPr>
        <p:spPr>
          <a:xfrm>
            <a:off x="8219237" y="1581912"/>
            <a:ext cx="3423818" cy="2021910"/>
          </a:xfrm>
          <a:prstGeom prst="roundRect">
            <a:avLst>
              <a:gd name="adj" fmla="val 5427"/>
            </a:avLst>
          </a:prstGeom>
          <a:solidFill>
            <a:schemeClr val="bg2"/>
          </a:solidFill>
          <a:ln w="12700">
            <a:solidFill>
              <a:schemeClr val="bg2"/>
            </a:solidFill>
            <a:prstDash val="solid"/>
          </a:ln>
        </p:spPr>
      </p:sp>
      <p:pic>
        <p:nvPicPr>
          <p:cNvPr id="12" name="Experts Network" descr="Experts Network">    </p:cNvPr>
          <p:cNvPicPr>
            <a:picLocks noChangeAspect="1"/>
          </p:cNvPicPr>
          <p:nvPr/>
        </p:nvPicPr>
        <p:blipFill>
          <a:blip r:embed="rId3"/>
          <a:stretch>
            <a:fillRect/>
          </a:stretch>
        </p:blipFill>
        <p:spPr>
          <a:xfrm>
            <a:off x="8328965" y="1691640"/>
            <a:ext cx="3204362" cy="1802454"/>
          </a:xfrm>
          <a:prstGeom prst="rect">
            <a:avLst/>
          </a:prstGeom>
        </p:spPr>
      </p:pic>
      <p:sp>
        <p:nvSpPr>
          <p:cNvPr id="13" name="Experts Network caption"/>
          <p:cNvSpPr txBox="1"/>
          <p:nvPr/>
        </p:nvSpPr>
        <p:spPr>
          <a:xfrm>
            <a:off x="8219237" y="4069080"/>
            <a:ext cx="3423818" cy="411480"/>
          </a:xfrm>
          <a:prstGeom prst="rect">
            <a:avLst/>
          </a:prstGeom>
          <a:noFill/>
          <a:ln/>
        </p:spPr>
        <p:txBody>
          <a:bodyPr wrap="square" lIns="0" tIns="0" rIns="0" bIns="0" rtlCol="0" anchor="t"/>
          <a:lstStyle/>
          <a:p>
            <a:pPr indent="0" marL="0">
              <a:buNone/>
            </a:pPr>
            <a:r>
              <a:rPr lang="en-US" sz="2000" b="1" dirty="0">
                <a:solidFill>
                  <a:schemeClr val="tx1"/>
                </a:solidFill>
              </a:rPr>
              <a:t>Experts Network</a:t>
            </a:r>
            <a:endParaRPr lang="en-US" sz="2000" dirty="0"/>
          </a:p>
        </p:txBody>
      </p:sp>
      <p:sp>
        <p:nvSpPr>
          <p:cNvPr id="14" name="Experts Network description"/>
          <p:cNvSpPr txBox="1"/>
          <p:nvPr/>
        </p:nvSpPr>
        <p:spPr>
          <a:xfrm>
            <a:off x="8219237" y="4526280"/>
            <a:ext cx="3423818" cy="731520"/>
          </a:xfrm>
          <a:prstGeom prst="rect">
            <a:avLst/>
          </a:prstGeom>
          <a:noFill/>
          <a:ln/>
        </p:spPr>
        <p:txBody>
          <a:bodyPr wrap="square" lIns="0" tIns="0" rIns="0" bIns="0" rtlCol="0" anchor="t"/>
          <a:lstStyle/>
          <a:p>
            <a:pPr indent="0" marL="0">
              <a:buNone/>
            </a:pPr>
            <a:r>
              <a:rPr lang="en-US" sz="1500" dirty="0">
                <a:solidFill>
                  <a:schemeClr val="accent6"/>
                </a:solidFill>
              </a:rPr>
              <a:t>Public expert profiles with skills and availability</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Joining: three steps, then verification and approval</a:t>
            </a:r>
            <a:endParaRPr lang="en-US" sz="3200" dirty="0"/>
          </a:p>
        </p:txBody>
      </p:sp>
      <p:sp>
        <p:nvSpPr>
          <p:cNvPr id="3" name="Step 1"/>
          <p:cNvSpPr/>
          <p:nvPr/>
        </p:nvSpPr>
        <p:spPr>
          <a:xfrm>
            <a:off x="548640" y="1645920"/>
            <a:ext cx="2036003" cy="2103120"/>
          </a:xfrm>
          <a:prstGeom prst="roundRect">
            <a:avLst>
              <a:gd name="adj" fmla="val 4491"/>
            </a:avLst>
          </a:prstGeom>
          <a:solidFill>
            <a:schemeClr val="bg2"/>
          </a:solidFill>
          <a:ln w="12700">
            <a:solidFill>
              <a:schemeClr val="bg2"/>
            </a:solidFill>
            <a:prstDash val="solid"/>
          </a:ln>
        </p:spPr>
      </p:sp>
      <p:sp>
        <p:nvSpPr>
          <p:cNvPr id="4" name="Step 1 badge"/>
          <p:cNvSpPr/>
          <p:nvPr/>
        </p:nvSpPr>
        <p:spPr>
          <a:xfrm>
            <a:off x="777240" y="1828800"/>
            <a:ext cx="548640" cy="548640"/>
          </a:xfrm>
          <a:prstGeom prst="ellipse">
            <a:avLst/>
          </a:prstGeom>
          <a:solidFill>
            <a:schemeClr val="accent1"/>
          </a:solidFill>
          <a:ln w="12700">
            <a:solidFill>
              <a:schemeClr val="accent1"/>
            </a:solidFill>
            <a:prstDash val="solid"/>
          </a:ln>
        </p:spPr>
      </p:sp>
      <p:sp>
        <p:nvSpPr>
          <p:cNvPr id="5" name="Step 1 number"/>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ep 1 title"/>
          <p:cNvSpPr txBox="1"/>
          <p:nvPr/>
        </p:nvSpPr>
        <p:spPr>
          <a:xfrm>
            <a:off x="777240" y="2514600"/>
            <a:ext cx="1670243" cy="640080"/>
          </a:xfrm>
          <a:prstGeom prst="rect">
            <a:avLst/>
          </a:prstGeom>
          <a:noFill/>
          <a:ln/>
        </p:spPr>
        <p:txBody>
          <a:bodyPr wrap="square" lIns="0" tIns="0" rIns="0" bIns="0" rtlCol="0" anchor="t"/>
          <a:lstStyle/>
          <a:p>
            <a:pPr indent="0" marL="0">
              <a:buNone/>
            </a:pPr>
            <a:r>
              <a:rPr lang="en-US" sz="1700" b="1" dirty="0">
                <a:solidFill>
                  <a:schemeClr val="tx1"/>
                </a:solidFill>
              </a:rPr>
              <a:t>Choose category</a:t>
            </a:r>
            <a:endParaRPr lang="en-US" sz="1700" dirty="0"/>
          </a:p>
        </p:txBody>
      </p:sp>
      <p:sp>
        <p:nvSpPr>
          <p:cNvPr id="7" name="Step 1 detail"/>
          <p:cNvSpPr txBox="1"/>
          <p:nvPr/>
        </p:nvSpPr>
        <p:spPr>
          <a:xfrm>
            <a:off x="777240" y="3154680"/>
            <a:ext cx="1670243" cy="548640"/>
          </a:xfrm>
          <a:prstGeom prst="rect">
            <a:avLst/>
          </a:prstGeom>
          <a:noFill/>
          <a:ln/>
        </p:spPr>
        <p:txBody>
          <a:bodyPr wrap="square" lIns="0" tIns="0" rIns="0" bIns="0" rtlCol="0" anchor="t"/>
          <a:lstStyle/>
          <a:p>
            <a:pPr indent="0" marL="0">
              <a:buNone/>
            </a:pPr>
            <a:r>
              <a:rPr lang="en-US" sz="1400" dirty="0">
                <a:solidFill>
                  <a:schemeClr val="accent6"/>
                </a:solidFill>
              </a:rPr>
              <a:t>Organisation or individual</a:t>
            </a:r>
            <a:endParaRPr lang="en-US" sz="1400" dirty="0"/>
          </a:p>
        </p:txBody>
      </p:sp>
      <p:sp>
        <p:nvSpPr>
          <p:cNvPr id="8" name="Step 2"/>
          <p:cNvSpPr/>
          <p:nvPr/>
        </p:nvSpPr>
        <p:spPr>
          <a:xfrm>
            <a:off x="2813243" y="1645920"/>
            <a:ext cx="2036003" cy="2103120"/>
          </a:xfrm>
          <a:prstGeom prst="roundRect">
            <a:avLst>
              <a:gd name="adj" fmla="val 4491"/>
            </a:avLst>
          </a:prstGeom>
          <a:solidFill>
            <a:schemeClr val="bg2"/>
          </a:solidFill>
          <a:ln w="12700">
            <a:solidFill>
              <a:schemeClr val="bg2"/>
            </a:solidFill>
            <a:prstDash val="solid"/>
          </a:ln>
        </p:spPr>
      </p:sp>
      <p:sp>
        <p:nvSpPr>
          <p:cNvPr id="9" name="Step 2 badge"/>
          <p:cNvSpPr/>
          <p:nvPr/>
        </p:nvSpPr>
        <p:spPr>
          <a:xfrm>
            <a:off x="3041843" y="1828800"/>
            <a:ext cx="548640" cy="548640"/>
          </a:xfrm>
          <a:prstGeom prst="ellipse">
            <a:avLst/>
          </a:prstGeom>
          <a:solidFill>
            <a:schemeClr val="accent1"/>
          </a:solidFill>
          <a:ln w="12700">
            <a:solidFill>
              <a:schemeClr val="accent1"/>
            </a:solidFill>
            <a:prstDash val="solid"/>
          </a:ln>
        </p:spPr>
      </p:sp>
      <p:sp>
        <p:nvSpPr>
          <p:cNvPr id="10" name="Step 2 number"/>
          <p:cNvSpPr txBox="1"/>
          <p:nvPr/>
        </p:nvSpPr>
        <p:spPr>
          <a:xfrm>
            <a:off x="3041843"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Step 2 title"/>
          <p:cNvSpPr txBox="1"/>
          <p:nvPr/>
        </p:nvSpPr>
        <p:spPr>
          <a:xfrm>
            <a:off x="3041843" y="2514600"/>
            <a:ext cx="1670243" cy="640080"/>
          </a:xfrm>
          <a:prstGeom prst="rect">
            <a:avLst/>
          </a:prstGeom>
          <a:noFill/>
          <a:ln/>
        </p:spPr>
        <p:txBody>
          <a:bodyPr wrap="square" lIns="0" tIns="0" rIns="0" bIns="0" rtlCol="0" anchor="t"/>
          <a:lstStyle/>
          <a:p>
            <a:pPr indent="0" marL="0">
              <a:buNone/>
            </a:pPr>
            <a:r>
              <a:rPr lang="en-US" sz="1700" b="1" dirty="0">
                <a:solidFill>
                  <a:schemeClr val="tx1"/>
                </a:solidFill>
              </a:rPr>
              <a:t>Add details</a:t>
            </a:r>
            <a:endParaRPr lang="en-US" sz="1700" dirty="0"/>
          </a:p>
        </p:txBody>
      </p:sp>
      <p:sp>
        <p:nvSpPr>
          <p:cNvPr id="12" name="Step 2 detail"/>
          <p:cNvSpPr txBox="1"/>
          <p:nvPr/>
        </p:nvSpPr>
        <p:spPr>
          <a:xfrm>
            <a:off x="3041843" y="3154680"/>
            <a:ext cx="1670243" cy="548640"/>
          </a:xfrm>
          <a:prstGeom prst="rect">
            <a:avLst/>
          </a:prstGeom>
          <a:noFill/>
          <a:ln/>
        </p:spPr>
        <p:txBody>
          <a:bodyPr wrap="square" lIns="0" tIns="0" rIns="0" bIns="0" rtlCol="0" anchor="t"/>
          <a:lstStyle/>
          <a:p>
            <a:pPr indent="0" marL="0">
              <a:buNone/>
            </a:pPr>
            <a:r>
              <a:rPr lang="en-US" sz="1400" dirty="0">
                <a:solidFill>
                  <a:schemeClr val="accent6"/>
                </a:solidFill>
              </a:rPr>
              <a:t>Personal or organisation details</a:t>
            </a:r>
            <a:endParaRPr lang="en-US" sz="1400" dirty="0"/>
          </a:p>
        </p:txBody>
      </p:sp>
      <p:sp>
        <p:nvSpPr>
          <p:cNvPr id="13" name="Step 3"/>
          <p:cNvSpPr/>
          <p:nvPr/>
        </p:nvSpPr>
        <p:spPr>
          <a:xfrm>
            <a:off x="5077846" y="1645920"/>
            <a:ext cx="2036003" cy="2103120"/>
          </a:xfrm>
          <a:prstGeom prst="roundRect">
            <a:avLst>
              <a:gd name="adj" fmla="val 4491"/>
            </a:avLst>
          </a:prstGeom>
          <a:solidFill>
            <a:schemeClr val="bg2"/>
          </a:solidFill>
          <a:ln w="12700">
            <a:solidFill>
              <a:schemeClr val="bg2"/>
            </a:solidFill>
            <a:prstDash val="solid"/>
          </a:ln>
        </p:spPr>
      </p:sp>
      <p:sp>
        <p:nvSpPr>
          <p:cNvPr id="14" name="Step 3 badge"/>
          <p:cNvSpPr/>
          <p:nvPr/>
        </p:nvSpPr>
        <p:spPr>
          <a:xfrm>
            <a:off x="5306446" y="1828800"/>
            <a:ext cx="548640" cy="548640"/>
          </a:xfrm>
          <a:prstGeom prst="ellipse">
            <a:avLst/>
          </a:prstGeom>
          <a:solidFill>
            <a:schemeClr val="accent1"/>
          </a:solidFill>
          <a:ln w="12700">
            <a:solidFill>
              <a:schemeClr val="accent1"/>
            </a:solidFill>
            <a:prstDash val="solid"/>
          </a:ln>
        </p:spPr>
      </p:sp>
      <p:sp>
        <p:nvSpPr>
          <p:cNvPr id="15" name="Step 3 number"/>
          <p:cNvSpPr txBox="1"/>
          <p:nvPr/>
        </p:nvSpPr>
        <p:spPr>
          <a:xfrm>
            <a:off x="5306446"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Step 3 title"/>
          <p:cNvSpPr txBox="1"/>
          <p:nvPr/>
        </p:nvSpPr>
        <p:spPr>
          <a:xfrm>
            <a:off x="5306446" y="2514600"/>
            <a:ext cx="1670243" cy="640080"/>
          </a:xfrm>
          <a:prstGeom prst="rect">
            <a:avLst/>
          </a:prstGeom>
          <a:noFill/>
          <a:ln/>
        </p:spPr>
        <p:txBody>
          <a:bodyPr wrap="square" lIns="0" tIns="0" rIns="0" bIns="0" rtlCol="0" anchor="t"/>
          <a:lstStyle/>
          <a:p>
            <a:pPr indent="0" marL="0">
              <a:buNone/>
            </a:pPr>
            <a:r>
              <a:rPr lang="en-US" sz="1700" b="1" dirty="0">
                <a:solidFill>
                  <a:schemeClr val="tx1"/>
                </a:solidFill>
              </a:rPr>
              <a:t>Review &amp; submit</a:t>
            </a:r>
            <a:endParaRPr lang="en-US" sz="1700" dirty="0"/>
          </a:p>
        </p:txBody>
      </p:sp>
      <p:sp>
        <p:nvSpPr>
          <p:cNvPr id="17" name="Step 3 detail"/>
          <p:cNvSpPr txBox="1"/>
          <p:nvPr/>
        </p:nvSpPr>
        <p:spPr>
          <a:xfrm>
            <a:off x="5306446" y="3154680"/>
            <a:ext cx="1670243" cy="548640"/>
          </a:xfrm>
          <a:prstGeom prst="rect">
            <a:avLst/>
          </a:prstGeom>
          <a:noFill/>
          <a:ln/>
        </p:spPr>
        <p:txBody>
          <a:bodyPr wrap="square" lIns="0" tIns="0" rIns="0" bIns="0" rtlCol="0" anchor="t"/>
          <a:lstStyle/>
          <a:p>
            <a:pPr indent="0" marL="0">
              <a:buNone/>
            </a:pPr>
            <a:r>
              <a:rPr lang="en-US" sz="1400" dirty="0">
                <a:solidFill>
                  <a:schemeClr val="accent6"/>
                </a:solidFill>
              </a:rPr>
              <a:t>Accept terms and send</a:t>
            </a:r>
            <a:endParaRPr lang="en-US" sz="1400" dirty="0"/>
          </a:p>
        </p:txBody>
      </p:sp>
      <p:sp>
        <p:nvSpPr>
          <p:cNvPr id="18" name="Step 4"/>
          <p:cNvSpPr/>
          <p:nvPr/>
        </p:nvSpPr>
        <p:spPr>
          <a:xfrm>
            <a:off x="7342449" y="1645920"/>
            <a:ext cx="2036003" cy="2103120"/>
          </a:xfrm>
          <a:prstGeom prst="roundRect">
            <a:avLst>
              <a:gd name="adj" fmla="val 4491"/>
            </a:avLst>
          </a:prstGeom>
          <a:solidFill>
            <a:schemeClr val="bg2"/>
          </a:solidFill>
          <a:ln w="12700">
            <a:solidFill>
              <a:schemeClr val="bg2"/>
            </a:solidFill>
            <a:prstDash val="solid"/>
          </a:ln>
        </p:spPr>
      </p:sp>
      <p:sp>
        <p:nvSpPr>
          <p:cNvPr id="19" name="Step 4 badge"/>
          <p:cNvSpPr/>
          <p:nvPr/>
        </p:nvSpPr>
        <p:spPr>
          <a:xfrm>
            <a:off x="7571049" y="1828800"/>
            <a:ext cx="548640" cy="548640"/>
          </a:xfrm>
          <a:prstGeom prst="ellipse">
            <a:avLst/>
          </a:prstGeom>
          <a:solidFill>
            <a:schemeClr val="accent1"/>
          </a:solidFill>
          <a:ln w="12700">
            <a:solidFill>
              <a:schemeClr val="accent1"/>
            </a:solidFill>
            <a:prstDash val="solid"/>
          </a:ln>
        </p:spPr>
      </p:sp>
      <p:sp>
        <p:nvSpPr>
          <p:cNvPr id="20" name="Step 4 number"/>
          <p:cNvSpPr txBox="1"/>
          <p:nvPr/>
        </p:nvSpPr>
        <p:spPr>
          <a:xfrm>
            <a:off x="7571049"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Step 4 title"/>
          <p:cNvSpPr txBox="1"/>
          <p:nvPr/>
        </p:nvSpPr>
        <p:spPr>
          <a:xfrm>
            <a:off x="7571049" y="2514600"/>
            <a:ext cx="1670243" cy="640080"/>
          </a:xfrm>
          <a:prstGeom prst="rect">
            <a:avLst/>
          </a:prstGeom>
          <a:noFill/>
          <a:ln/>
        </p:spPr>
        <p:txBody>
          <a:bodyPr wrap="square" lIns="0" tIns="0" rIns="0" bIns="0" rtlCol="0" anchor="t"/>
          <a:lstStyle/>
          <a:p>
            <a:pPr indent="0" marL="0">
              <a:buNone/>
            </a:pPr>
            <a:r>
              <a:rPr lang="en-US" sz="1700" b="1" dirty="0">
                <a:solidFill>
                  <a:schemeClr val="tx1"/>
                </a:solidFill>
              </a:rPr>
              <a:t>Verify email</a:t>
            </a:r>
            <a:endParaRPr lang="en-US" sz="1700" dirty="0"/>
          </a:p>
        </p:txBody>
      </p:sp>
      <p:sp>
        <p:nvSpPr>
          <p:cNvPr id="22" name="Step 4 detail"/>
          <p:cNvSpPr txBox="1"/>
          <p:nvPr/>
        </p:nvSpPr>
        <p:spPr>
          <a:xfrm>
            <a:off x="7571049" y="3154680"/>
            <a:ext cx="1670243" cy="548640"/>
          </a:xfrm>
          <a:prstGeom prst="rect">
            <a:avLst/>
          </a:prstGeom>
          <a:noFill/>
          <a:ln/>
        </p:spPr>
        <p:txBody>
          <a:bodyPr wrap="square" lIns="0" tIns="0" rIns="0" bIns="0" rtlCol="0" anchor="t"/>
          <a:lstStyle/>
          <a:p>
            <a:pPr indent="0" marL="0">
              <a:buNone/>
            </a:pPr>
            <a:r>
              <a:rPr lang="en-US" sz="1400" dirty="0">
                <a:solidFill>
                  <a:schemeClr val="accent6"/>
                </a:solidFill>
              </a:rPr>
              <a:t>Link sent by email</a:t>
            </a:r>
            <a:endParaRPr lang="en-US" sz="1400" dirty="0"/>
          </a:p>
        </p:txBody>
      </p:sp>
      <p:sp>
        <p:nvSpPr>
          <p:cNvPr id="23" name="Step 5"/>
          <p:cNvSpPr/>
          <p:nvPr/>
        </p:nvSpPr>
        <p:spPr>
          <a:xfrm>
            <a:off x="9607052" y="1645920"/>
            <a:ext cx="2036003" cy="2103120"/>
          </a:xfrm>
          <a:prstGeom prst="roundRect">
            <a:avLst>
              <a:gd name="adj" fmla="val 4491"/>
            </a:avLst>
          </a:prstGeom>
          <a:solidFill>
            <a:schemeClr val="bg2"/>
          </a:solidFill>
          <a:ln w="12700">
            <a:solidFill>
              <a:schemeClr val="bg2"/>
            </a:solidFill>
            <a:prstDash val="solid"/>
          </a:ln>
        </p:spPr>
      </p:sp>
      <p:sp>
        <p:nvSpPr>
          <p:cNvPr id="24" name="Step 5 badge"/>
          <p:cNvSpPr/>
          <p:nvPr/>
        </p:nvSpPr>
        <p:spPr>
          <a:xfrm>
            <a:off x="9835652" y="1828800"/>
            <a:ext cx="548640" cy="548640"/>
          </a:xfrm>
          <a:prstGeom prst="ellipse">
            <a:avLst/>
          </a:prstGeom>
          <a:solidFill>
            <a:schemeClr val="accent2"/>
          </a:solidFill>
          <a:ln w="12700">
            <a:solidFill>
              <a:schemeClr val="accent2"/>
            </a:solidFill>
            <a:prstDash val="solid"/>
          </a:ln>
        </p:spPr>
      </p:sp>
      <p:sp>
        <p:nvSpPr>
          <p:cNvPr id="25" name="Step 5 number"/>
          <p:cNvSpPr txBox="1"/>
          <p:nvPr/>
        </p:nvSpPr>
        <p:spPr>
          <a:xfrm>
            <a:off x="9835652" y="182880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5</a:t>
            </a:r>
            <a:endParaRPr lang="en-US" sz="2000" dirty="0"/>
          </a:p>
        </p:txBody>
      </p:sp>
      <p:sp>
        <p:nvSpPr>
          <p:cNvPr id="26" name="Step 5 title"/>
          <p:cNvSpPr txBox="1"/>
          <p:nvPr/>
        </p:nvSpPr>
        <p:spPr>
          <a:xfrm>
            <a:off x="9835652" y="2514600"/>
            <a:ext cx="1670243" cy="640080"/>
          </a:xfrm>
          <a:prstGeom prst="rect">
            <a:avLst/>
          </a:prstGeom>
          <a:noFill/>
          <a:ln/>
        </p:spPr>
        <p:txBody>
          <a:bodyPr wrap="square" lIns="0" tIns="0" rIns="0" bIns="0" rtlCol="0" anchor="t"/>
          <a:lstStyle/>
          <a:p>
            <a:pPr indent="0" marL="0">
              <a:buNone/>
            </a:pPr>
            <a:r>
              <a:rPr lang="en-US" sz="1700" b="1" dirty="0">
                <a:solidFill>
                  <a:schemeClr val="tx1"/>
                </a:solidFill>
              </a:rPr>
              <a:t>Approved</a:t>
            </a:r>
            <a:endParaRPr lang="en-US" sz="1700" dirty="0"/>
          </a:p>
        </p:txBody>
      </p:sp>
      <p:sp>
        <p:nvSpPr>
          <p:cNvPr id="27" name="Step 5 detail"/>
          <p:cNvSpPr txBox="1"/>
          <p:nvPr/>
        </p:nvSpPr>
        <p:spPr>
          <a:xfrm>
            <a:off x="9835652" y="3154680"/>
            <a:ext cx="1670243" cy="548640"/>
          </a:xfrm>
          <a:prstGeom prst="rect">
            <a:avLst/>
          </a:prstGeom>
          <a:noFill/>
          <a:ln/>
        </p:spPr>
        <p:txBody>
          <a:bodyPr wrap="square" lIns="0" tIns="0" rIns="0" bIns="0" rtlCol="0" anchor="t"/>
          <a:lstStyle/>
          <a:p>
            <a:pPr indent="0" marL="0">
              <a:buNone/>
            </a:pPr>
            <a:r>
              <a:rPr lang="en-US" sz="1400" dirty="0">
                <a:solidFill>
                  <a:schemeClr val="accent6"/>
                </a:solidFill>
              </a:rPr>
              <a:t>Team reviews; member is notified</a:t>
            </a:r>
            <a:endParaRPr lang="en-US" sz="1400" dirty="0"/>
          </a:p>
        </p:txBody>
      </p:sp>
      <p:sp>
        <p:nvSpPr>
          <p:cNvPr id="28" name="Registration form frame"/>
          <p:cNvSpPr/>
          <p:nvPr/>
        </p:nvSpPr>
        <p:spPr>
          <a:xfrm>
            <a:off x="548640" y="4005072"/>
            <a:ext cx="3511296" cy="2071116"/>
          </a:xfrm>
          <a:prstGeom prst="roundRect">
            <a:avLst>
              <a:gd name="adj" fmla="val 5298"/>
            </a:avLst>
          </a:prstGeom>
          <a:solidFill>
            <a:schemeClr val="bg2"/>
          </a:solidFill>
          <a:ln w="12700">
            <a:solidFill>
              <a:schemeClr val="bg2"/>
            </a:solidFill>
            <a:prstDash val="solid"/>
          </a:ln>
        </p:spPr>
      </p:sp>
      <p:pic>
        <p:nvPicPr>
          <p:cNvPr id="29" name="Registration form" descr="Registration form">    </p:cNvPr>
          <p:cNvPicPr>
            <a:picLocks noChangeAspect="1"/>
          </p:cNvPicPr>
          <p:nvPr/>
        </p:nvPicPr>
        <p:blipFill>
          <a:blip r:embed="rId1"/>
          <a:stretch>
            <a:fillRect/>
          </a:stretch>
        </p:blipFill>
        <p:spPr>
          <a:xfrm>
            <a:off x="658368" y="4114800"/>
            <a:ext cx="3291840" cy="1851660"/>
          </a:xfrm>
          <a:prstGeom prst="rect">
            <a:avLst/>
          </a:prstGeom>
        </p:spPr>
      </p:pic>
      <p:sp>
        <p:nvSpPr>
          <p:cNvPr id="30" name="Login page frame"/>
          <p:cNvSpPr/>
          <p:nvPr/>
        </p:nvSpPr>
        <p:spPr>
          <a:xfrm>
            <a:off x="4416552" y="4005072"/>
            <a:ext cx="3511296" cy="2071116"/>
          </a:xfrm>
          <a:prstGeom prst="roundRect">
            <a:avLst>
              <a:gd name="adj" fmla="val 5298"/>
            </a:avLst>
          </a:prstGeom>
          <a:solidFill>
            <a:schemeClr val="bg2"/>
          </a:solidFill>
          <a:ln w="12700">
            <a:solidFill>
              <a:schemeClr val="bg2"/>
            </a:solidFill>
            <a:prstDash val="solid"/>
          </a:ln>
        </p:spPr>
      </p:sp>
      <p:pic>
        <p:nvPicPr>
          <p:cNvPr id="31" name="Login page" descr="Login page">    </p:cNvPr>
          <p:cNvPicPr>
            <a:picLocks noChangeAspect="1"/>
          </p:cNvPicPr>
          <p:nvPr/>
        </p:nvPicPr>
        <p:blipFill>
          <a:blip r:embed="rId2"/>
          <a:stretch>
            <a:fillRect/>
          </a:stretch>
        </p:blipFill>
        <p:spPr>
          <a:xfrm>
            <a:off x="4526280" y="4114800"/>
            <a:ext cx="3291840" cy="1851660"/>
          </a:xfrm>
          <a:prstGeom prst="rect">
            <a:avLst/>
          </a:prstGeom>
        </p:spPr>
      </p:pic>
      <p:sp>
        <p:nvSpPr>
          <p:cNvPr id="32" name="Sign-in notes"/>
          <p:cNvSpPr txBox="1"/>
          <p:nvPr/>
        </p:nvSpPr>
        <p:spPr>
          <a:xfrm>
            <a:off x="8321040" y="4069080"/>
            <a:ext cx="3322015" cy="201168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Optional sign-in code:</a:t>
            </a:r>
            <a:pPr indent="0" marL="0">
              <a:spcAft>
                <a:spcPts val="800"/>
              </a:spcAft>
              <a:buNone/>
            </a:pPr>
            <a:r>
              <a:rPr lang="en-US" sz="1500" dirty="0">
                <a:solidFill>
                  <a:schemeClr val="tx1"/>
                </a:solidFill>
              </a:rPr>
              <a:t> a 6-digit code emailed after the password</a:t>
            </a:r>
            <a:endParaRPr lang="en-US" sz="1500" dirty="0"/>
          </a:p>
          <a:p>
            <a:pPr marL="342900" indent="-342900">
              <a:spcAft>
                <a:spcPts val="800"/>
              </a:spcAft>
              <a:buSzPct val="100000"/>
              <a:buChar char="•"/>
            </a:pPr>
            <a:r>
              <a:rPr lang="en-US" sz="1500" b="1" dirty="0">
                <a:solidFill>
                  <a:schemeClr val="tx1"/>
                </a:solidFill>
              </a:rPr>
              <a:t>Switched by</a:t>
            </a:r>
            <a:pPr indent="0" marL="0">
              <a:spcAft>
                <a:spcPts val="800"/>
              </a:spcAft>
              <a:buNone/>
            </a:pPr>
            <a:r>
              <a:rPr lang="en-US" sz="1500" dirty="0">
                <a:solidFill>
                  <a:schemeClr val="tx1"/>
                </a:solidFill>
              </a:rPr>
              <a:t> LOGIN_OTP_ENABLED; email by EMAIL_ENABLED</a:t>
            </a:r>
            <a:endParaRPr lang="en-US" sz="1500" dirty="0"/>
          </a:p>
          <a:p>
            <a:pPr marL="342900" indent="-342900">
              <a:spcAft>
                <a:spcPts val="800"/>
              </a:spcAft>
              <a:buSzPct val="100000"/>
              <a:buChar char="•"/>
            </a:pPr>
            <a:r>
              <a:rPr lang="en-US" sz="1500" b="1" dirty="0">
                <a:solidFill>
                  <a:schemeClr val="tx1"/>
                </a:solidFill>
              </a:rPr>
              <a:t>Approval and verification</a:t>
            </a:r>
            <a:pPr indent="0" marL="0">
              <a:spcAft>
                <a:spcPts val="800"/>
              </a:spcAft>
              <a:buNone/>
            </a:pPr>
            <a:r>
              <a:rPr lang="en-US" sz="1500" dirty="0">
                <a:solidFill>
                  <a:schemeClr val="tx1"/>
                </a:solidFill>
              </a:rPr>
              <a:t> can each be turned off</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lIns="0" tIns="0" rIns="0" bIns="0" rtlCol="0" anchor="b"/>
          <a:lstStyle/>
          <a:p>
            <a:pPr indent="0" marL="0">
              <a:buNone/>
            </a:pPr>
            <a:r>
              <a:rPr lang="en-US" sz="4400" b="1" dirty="0">
                <a:solidFill>
                  <a:schemeClr val="bg1"/>
                </a:solidFill>
              </a:rPr>
              <a:t>Members</a:t>
            </a: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lIns="0" tIns="0" rIns="0" bIns="0" rtlCol="0" anchor="t"/>
          <a:lstStyle/>
          <a:p>
            <a:pPr indent="0" marL="0">
              <a:buNone/>
            </a:pPr>
            <a:r>
              <a:rPr lang="en-US" sz="2000" dirty="0">
                <a:solidFill>
                  <a:schemeClr val="bg2"/>
                </a:solidFill>
              </a:rPr>
              <a:t>Organisation members, individual members and experts</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Organisation members work from one dashboard</a:t>
            </a:r>
            <a:endParaRPr lang="en-US" sz="3200" dirty="0"/>
          </a:p>
        </p:txBody>
      </p:sp>
      <p:sp>
        <p:nvSpPr>
          <p:cNvPr id="3" name="Industry member dashboard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Industry member dashboard" descr="Industry member dashboard">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For</a:t>
            </a:r>
            <a:pPr indent="0" marL="0">
              <a:spcAft>
                <a:spcPts val="800"/>
              </a:spcAft>
              <a:buNone/>
            </a:pPr>
            <a:r>
              <a:rPr lang="en-US" sz="1600" dirty="0">
                <a:solidFill>
                  <a:schemeClr val="tx1"/>
                </a:solidFill>
              </a:rPr>
              <a:t> startups, academia and industry</a:t>
            </a:r>
            <a:endParaRPr lang="en-US" sz="1600" dirty="0"/>
          </a:p>
          <a:p>
            <a:pPr marL="342900" indent="-342900">
              <a:spcAft>
                <a:spcPts val="800"/>
              </a:spcAft>
              <a:buSzPct val="100000"/>
              <a:buChar char="•"/>
            </a:pPr>
            <a:r>
              <a:rPr lang="en-US" sz="1600" b="1" dirty="0">
                <a:solidFill>
                  <a:schemeClr val="tx1"/>
                </a:solidFill>
              </a:rPr>
              <a:t>Relevant opportunities,</a:t>
            </a:r>
            <a:pPr indent="0" marL="0">
              <a:spcAft>
                <a:spcPts val="800"/>
              </a:spcAft>
              <a:buNone/>
            </a:pPr>
            <a:r>
              <a:rPr lang="en-US" sz="1600" dirty="0">
                <a:solidFill>
                  <a:schemeClr val="tx1"/>
                </a:solidFill>
              </a:rPr>
              <a:t> including members-only and category listings</a:t>
            </a:r>
            <a:endParaRPr lang="en-US" sz="1600" dirty="0"/>
          </a:p>
          <a:p>
            <a:pPr marL="342900" indent="-342900">
              <a:spcAft>
                <a:spcPts val="800"/>
              </a:spcAft>
              <a:buSzPct val="100000"/>
              <a:buChar char="•"/>
            </a:pPr>
            <a:r>
              <a:rPr lang="en-US" sz="1600" b="1" dirty="0">
                <a:solidFill>
                  <a:schemeClr val="tx1"/>
                </a:solidFill>
              </a:rPr>
              <a:t>Quick actions:</a:t>
            </a:r>
            <a:pPr indent="0" marL="0">
              <a:spcAft>
                <a:spcPts val="800"/>
              </a:spcAft>
              <a:buNone/>
            </a:pPr>
            <a:r>
              <a:rPr lang="en-US" sz="1600" dirty="0">
                <a:solidFill>
                  <a:schemeClr val="tx1"/>
                </a:solidFill>
              </a:rPr>
              <a:t> post a requirement, find experts, connect with academia</a:t>
            </a:r>
            <a:endParaRPr lang="en-US" sz="1600" dirty="0"/>
          </a:p>
          <a:p>
            <a:pPr marL="342900" indent="-342900">
              <a:spcAft>
                <a:spcPts val="800"/>
              </a:spcAft>
              <a:buSzPct val="100000"/>
              <a:buChar char="•"/>
            </a:pPr>
            <a:r>
              <a:rPr lang="en-US" sz="1600" b="1" dirty="0">
                <a:solidFill>
                  <a:schemeClr val="tx1"/>
                </a:solidFill>
              </a:rPr>
              <a:t>Company profile</a:t>
            </a:r>
            <a:pPr indent="0" marL="0">
              <a:spcAft>
                <a:spcPts val="800"/>
              </a:spcAft>
              <a:buNone/>
            </a:pPr>
            <a:r>
              <a:rPr lang="en-US" sz="1600" dirty="0">
                <a:solidFill>
                  <a:schemeClr val="tx1"/>
                </a:solidFill>
              </a:rPr>
              <a:t> feeds the public Partner Ecosystem once approved</a:t>
            </a:r>
            <a:endParaRPr lang="en-US" sz="1600" dirty="0"/>
          </a:p>
          <a:p>
            <a:pPr marL="342900" indent="-342900">
              <a:spcAft>
                <a:spcPts val="800"/>
              </a:spcAft>
              <a:buSzPct val="100000"/>
              <a:buChar char="•"/>
            </a:pPr>
            <a:r>
              <a:rPr lang="en-US" sz="1600" b="1" dirty="0">
                <a:solidFill>
                  <a:schemeClr val="tx1"/>
                </a:solidFill>
              </a:rPr>
              <a:t>Requests, events and learning</a:t>
            </a:r>
            <a:pPr indent="0" marL="0">
              <a:spcAft>
                <a:spcPts val="800"/>
              </a:spcAft>
              <a:buNone/>
            </a:pPr>
            <a:r>
              <a:rPr lang="en-US" sz="1600" dirty="0">
                <a:solidFill>
                  <a:schemeClr val="tx1"/>
                </a:solidFill>
              </a:rPr>
              <a:t> in one place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Every category gets the Member role plus its own</a:t>
            </a:r>
            <a:endParaRPr lang="en-US" sz="3200" dirty="0"/>
          </a:p>
        </p:txBody>
      </p:sp>
      <p:graphicFrame>
        <p:nvGraphicFramePr>
          <p:cNvPr id="11" name="Category roles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023360"/>
                <a:gridCol w="2377440"/>
                <a:gridCol w="4693615"/>
              </a:tblGrid>
              <a:tr h="475488">
                <a:tc>
                  <a:txBody>
                    <a:bodyPr/>
                    <a:lstStyle/>
                    <a:p>
                      <a:pPr indent="0" marL="0">
                        <a:buNone/>
                      </a:pPr>
                      <a:r>
                        <a:rPr lang="en-US" sz="1400" b="1" dirty="0">
                          <a:solidFill>
                            <a:schemeClr val="bg1"/>
                          </a:solidFill>
                        </a:rPr>
                        <a:t>Category</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Signs in as</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Roles on approval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r>
              <a:tr h="475488">
                <a:tc>
                  <a:txBody>
                    <a:bodyPr/>
                    <a:lstStyle/>
                    <a:p>
                      <a:pPr algn="l" indent="0" marL="0">
                        <a:buNone/>
                      </a:pPr>
                      <a:r>
                        <a:rPr lang="en-US" sz="1400" b="1" dirty="0">
                          <a:solidFill>
                            <a:schemeClr val="tx1"/>
                          </a:solidFill>
                        </a:rPr>
                        <a:t>Startups &amp; Innovation Ecosystems</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Organisation</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Member + Startup &amp; Innovation</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Academia &amp; Research</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Organisation</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Member + Academia &amp; Research</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Industry</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Organisation</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Member + Industry Member</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Individual Experts (SME)</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Individual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Member + Individual Expert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Alumni</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Individual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Member + Alumni</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Student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Individual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Member + Student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Professional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Individual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Member + Professional</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bl>
          </a:graphicData>
        </a:graphic>
      </p:graphicFrame>
      <p:sp>
        <p:nvSpPr>
          <p:cNvPr id="4" name="Table note"/>
          <p:cNvSpPr txBox="1"/>
          <p:nvPr/>
        </p:nvSpPr>
        <p:spPr>
          <a:xfrm>
            <a:off x="548640" y="5486400"/>
            <a:ext cx="11094415" cy="731520"/>
          </a:xfrm>
          <a:prstGeom prst="rect">
            <a:avLst/>
          </a:prstGeom>
          <a:noFill/>
          <a:ln/>
        </p:spPr>
        <p:txBody>
          <a:bodyPr wrap="square" lIns="0" tIns="0" rIns="0" bIns="0" rtlCol="0" anchor="t"/>
          <a:lstStyle/>
          <a:p>
            <a:pPr indent="0" marL="0">
              <a:buNone/>
            </a:pPr>
            <a:r>
              <a:rPr lang="en-US" sz="1500" dirty="0">
                <a:solidFill>
                  <a:schemeClr val="accent6"/>
                </a:solidFill>
              </a:rPr>
              <a:t>Member lets everyone see members-only content, post opportunities for review and request expert introductions. The category role targets content at that group. Administrators can add or narrow roles at any time.</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Member posts are reviewed before they go live</a:t>
            </a:r>
            <a:endParaRPr lang="en-US" sz="3200" dirty="0"/>
          </a:p>
        </p:txBody>
      </p:sp>
      <p:sp>
        <p:nvSpPr>
          <p:cNvPr id="3" name="Post Opportunity form frame"/>
          <p:cNvSpPr/>
          <p:nvPr/>
        </p:nvSpPr>
        <p:spPr>
          <a:xfrm>
            <a:off x="5498287" y="1490472"/>
            <a:ext cx="6254496" cy="3614166"/>
          </a:xfrm>
          <a:prstGeom prst="roundRect">
            <a:avLst>
              <a:gd name="adj" fmla="val 3036"/>
            </a:avLst>
          </a:prstGeom>
          <a:solidFill>
            <a:schemeClr val="bg2"/>
          </a:solidFill>
          <a:ln w="12700">
            <a:solidFill>
              <a:schemeClr val="bg2"/>
            </a:solidFill>
            <a:prstDash val="solid"/>
          </a:ln>
        </p:spPr>
      </p:sp>
      <p:pic>
        <p:nvPicPr>
          <p:cNvPr id="4" name="Post Opportunity form" descr="Post Opportunity form">    </p:cNvPr>
          <p:cNvPicPr>
            <a:picLocks noChangeAspect="1"/>
          </p:cNvPicPr>
          <p:nvPr/>
        </p:nvPicPr>
        <p:blipFill>
          <a:blip r:embed="rId1"/>
          <a:stretch>
            <a:fillRect/>
          </a:stretch>
        </p:blipFill>
        <p:spPr>
          <a:xfrm>
            <a:off x="5608015" y="1600200"/>
            <a:ext cx="6035040" cy="3394710"/>
          </a:xfrm>
          <a:prstGeom prst="rect">
            <a:avLst/>
          </a:prstGeom>
        </p:spPr>
      </p:pic>
      <p:sp>
        <p:nvSpPr>
          <p:cNvPr id="5" name="Member submits circle"/>
          <p:cNvSpPr/>
          <p:nvPr/>
        </p:nvSpPr>
        <p:spPr>
          <a:xfrm>
            <a:off x="548640" y="1600200"/>
            <a:ext cx="640080" cy="640080"/>
          </a:xfrm>
          <a:prstGeom prst="ellipse">
            <a:avLst/>
          </a:prstGeom>
          <a:solidFill>
            <a:schemeClr val="accent1"/>
          </a:solidFill>
          <a:ln w="12700">
            <a:solidFill>
              <a:schemeClr val="accent1"/>
            </a:solidFill>
            <a:prstDash val="solid"/>
          </a:ln>
        </p:spPr>
      </p:sp>
      <p:pic>
        <p:nvPicPr>
          <p:cNvPr id="6" name="Member submits icon" descr="preencoded.png">    </p:cNvPr>
          <p:cNvPicPr>
            <a:picLocks noChangeAspect="1"/>
          </p:cNvPicPr>
          <p:nvPr/>
        </p:nvPicPr>
        <p:blipFill>
          <a:blip r:embed="rId2"/>
          <a:stretch>
            <a:fillRect/>
          </a:stretch>
        </p:blipFill>
        <p:spPr>
          <a:xfrm>
            <a:off x="708660" y="1760220"/>
            <a:ext cx="320040" cy="320040"/>
          </a:xfrm>
          <a:prstGeom prst="rect">
            <a:avLst/>
          </a:prstGeom>
        </p:spPr>
      </p:pic>
      <p:sp>
        <p:nvSpPr>
          <p:cNvPr id="7" name="Member submits title"/>
          <p:cNvSpPr txBox="1"/>
          <p:nvPr/>
        </p:nvSpPr>
        <p:spPr>
          <a:xfrm>
            <a:off x="1417320" y="1581912"/>
            <a:ext cx="4206240" cy="384048"/>
          </a:xfrm>
          <a:prstGeom prst="rect">
            <a:avLst/>
          </a:prstGeom>
          <a:noFill/>
          <a:ln/>
        </p:spPr>
        <p:txBody>
          <a:bodyPr wrap="square" lIns="0" tIns="0" rIns="0" bIns="0" rtlCol="0" anchor="t"/>
          <a:lstStyle/>
          <a:p>
            <a:pPr indent="0" marL="0">
              <a:buNone/>
            </a:pPr>
            <a:r>
              <a:rPr lang="en-US" sz="1800" b="1" dirty="0">
                <a:solidFill>
                  <a:schemeClr val="tx1"/>
                </a:solidFill>
              </a:rPr>
              <a:t>Member submits</a:t>
            </a:r>
            <a:endParaRPr lang="en-US" sz="1800" dirty="0"/>
          </a:p>
        </p:txBody>
      </p:sp>
      <p:sp>
        <p:nvSpPr>
          <p:cNvPr id="8" name="Member submits detail"/>
          <p:cNvSpPr txBox="1"/>
          <p:nvPr/>
        </p:nvSpPr>
        <p:spPr>
          <a:xfrm>
            <a:off x="1417320" y="1965960"/>
            <a:ext cx="4206240" cy="640080"/>
          </a:xfrm>
          <a:prstGeom prst="rect">
            <a:avLst/>
          </a:prstGeom>
          <a:noFill/>
          <a:ln/>
        </p:spPr>
        <p:txBody>
          <a:bodyPr wrap="square" lIns="0" tIns="0" rIns="0" bIns="0" rtlCol="0" anchor="t"/>
          <a:lstStyle/>
          <a:p>
            <a:pPr indent="0" marL="0">
              <a:buNone/>
            </a:pPr>
            <a:r>
              <a:rPr lang="en-US" sz="1500" dirty="0">
                <a:solidFill>
                  <a:schemeClr val="accent6"/>
                </a:solidFill>
              </a:rPr>
              <a:t>Title, type, deadline, how to apply</a:t>
            </a:r>
            <a:endParaRPr lang="en-US" sz="1500" dirty="0"/>
          </a:p>
        </p:txBody>
      </p:sp>
      <p:sp>
        <p:nvSpPr>
          <p:cNvPr id="9" name="Publishers notified circle"/>
          <p:cNvSpPr/>
          <p:nvPr/>
        </p:nvSpPr>
        <p:spPr>
          <a:xfrm>
            <a:off x="548640" y="2697480"/>
            <a:ext cx="640080" cy="640080"/>
          </a:xfrm>
          <a:prstGeom prst="ellipse">
            <a:avLst/>
          </a:prstGeom>
          <a:solidFill>
            <a:schemeClr val="accent1"/>
          </a:solidFill>
          <a:ln w="12700">
            <a:solidFill>
              <a:schemeClr val="accent1"/>
            </a:solidFill>
            <a:prstDash val="solid"/>
          </a:ln>
        </p:spPr>
      </p:sp>
      <p:pic>
        <p:nvPicPr>
          <p:cNvPr id="10" name="Publishers notified icon" descr="preencoded.png">    </p:cNvPr>
          <p:cNvPicPr>
            <a:picLocks noChangeAspect="1"/>
          </p:cNvPicPr>
          <p:nvPr/>
        </p:nvPicPr>
        <p:blipFill>
          <a:blip r:embed="rId3"/>
          <a:stretch>
            <a:fillRect/>
          </a:stretch>
        </p:blipFill>
        <p:spPr>
          <a:xfrm>
            <a:off x="708660" y="2857500"/>
            <a:ext cx="320040" cy="320040"/>
          </a:xfrm>
          <a:prstGeom prst="rect">
            <a:avLst/>
          </a:prstGeom>
        </p:spPr>
      </p:pic>
      <p:sp>
        <p:nvSpPr>
          <p:cNvPr id="11" name="Publishers notified title"/>
          <p:cNvSpPr txBox="1"/>
          <p:nvPr/>
        </p:nvSpPr>
        <p:spPr>
          <a:xfrm>
            <a:off x="1417320" y="2679192"/>
            <a:ext cx="4206240" cy="384048"/>
          </a:xfrm>
          <a:prstGeom prst="rect">
            <a:avLst/>
          </a:prstGeom>
          <a:noFill/>
          <a:ln/>
        </p:spPr>
        <p:txBody>
          <a:bodyPr wrap="square" lIns="0" tIns="0" rIns="0" bIns="0" rtlCol="0" anchor="t"/>
          <a:lstStyle/>
          <a:p>
            <a:pPr indent="0" marL="0">
              <a:buNone/>
            </a:pPr>
            <a:r>
              <a:rPr lang="en-US" sz="1800" b="1" dirty="0">
                <a:solidFill>
                  <a:schemeClr val="tx1"/>
                </a:solidFill>
              </a:rPr>
              <a:t>Publishers notified</a:t>
            </a:r>
            <a:endParaRPr lang="en-US" sz="1800" dirty="0"/>
          </a:p>
        </p:txBody>
      </p:sp>
      <p:sp>
        <p:nvSpPr>
          <p:cNvPr id="12" name="Publishers notified detail"/>
          <p:cNvSpPr txBox="1"/>
          <p:nvPr/>
        </p:nvSpPr>
        <p:spPr>
          <a:xfrm>
            <a:off x="1417320" y="3063240"/>
            <a:ext cx="4206240" cy="640080"/>
          </a:xfrm>
          <a:prstGeom prst="rect">
            <a:avLst/>
          </a:prstGeom>
          <a:noFill/>
          <a:ln/>
        </p:spPr>
        <p:txBody>
          <a:bodyPr wrap="square" lIns="0" tIns="0" rIns="0" bIns="0" rtlCol="0" anchor="t"/>
          <a:lstStyle/>
          <a:p>
            <a:pPr indent="0" marL="0">
              <a:buNone/>
            </a:pPr>
            <a:r>
              <a:rPr lang="en-US" sz="1500" dirty="0">
                <a:solidFill>
                  <a:schemeClr val="accent6"/>
                </a:solidFill>
              </a:rPr>
              <a:t>Live alert to everyone who can publish</a:t>
            </a:r>
            <a:endParaRPr lang="en-US" sz="1500" dirty="0"/>
          </a:p>
        </p:txBody>
      </p:sp>
      <p:sp>
        <p:nvSpPr>
          <p:cNvPr id="13" name="Reviewed and published circle"/>
          <p:cNvSpPr/>
          <p:nvPr/>
        </p:nvSpPr>
        <p:spPr>
          <a:xfrm>
            <a:off x="548640" y="3794760"/>
            <a:ext cx="640080" cy="640080"/>
          </a:xfrm>
          <a:prstGeom prst="ellipse">
            <a:avLst/>
          </a:prstGeom>
          <a:solidFill>
            <a:schemeClr val="accent1"/>
          </a:solidFill>
          <a:ln w="12700">
            <a:solidFill>
              <a:schemeClr val="accent1"/>
            </a:solidFill>
            <a:prstDash val="solid"/>
          </a:ln>
        </p:spPr>
      </p:sp>
      <p:pic>
        <p:nvPicPr>
          <p:cNvPr id="14" name="Reviewed and published icon" descr="preencoded.png">    </p:cNvPr>
          <p:cNvPicPr>
            <a:picLocks noChangeAspect="1"/>
          </p:cNvPicPr>
          <p:nvPr/>
        </p:nvPicPr>
        <p:blipFill>
          <a:blip r:embed="rId4"/>
          <a:stretch>
            <a:fillRect/>
          </a:stretch>
        </p:blipFill>
        <p:spPr>
          <a:xfrm>
            <a:off x="708660" y="3954780"/>
            <a:ext cx="320040" cy="320040"/>
          </a:xfrm>
          <a:prstGeom prst="rect">
            <a:avLst/>
          </a:prstGeom>
        </p:spPr>
      </p:pic>
      <p:sp>
        <p:nvSpPr>
          <p:cNvPr id="15" name="Reviewed and published title"/>
          <p:cNvSpPr txBox="1"/>
          <p:nvPr/>
        </p:nvSpPr>
        <p:spPr>
          <a:xfrm>
            <a:off x="1417320" y="3776472"/>
            <a:ext cx="4206240" cy="384048"/>
          </a:xfrm>
          <a:prstGeom prst="rect">
            <a:avLst/>
          </a:prstGeom>
          <a:noFill/>
          <a:ln/>
        </p:spPr>
        <p:txBody>
          <a:bodyPr wrap="square" lIns="0" tIns="0" rIns="0" bIns="0" rtlCol="0" anchor="t"/>
          <a:lstStyle/>
          <a:p>
            <a:pPr indent="0" marL="0">
              <a:buNone/>
            </a:pPr>
            <a:r>
              <a:rPr lang="en-US" sz="1800" b="1" dirty="0">
                <a:solidFill>
                  <a:schemeClr val="tx1"/>
                </a:solidFill>
              </a:rPr>
              <a:t>Reviewed and published</a:t>
            </a:r>
            <a:endParaRPr lang="en-US" sz="1800" dirty="0"/>
          </a:p>
        </p:txBody>
      </p:sp>
      <p:sp>
        <p:nvSpPr>
          <p:cNvPr id="16" name="Reviewed and published detail"/>
          <p:cNvSpPr txBox="1"/>
          <p:nvPr/>
        </p:nvSpPr>
        <p:spPr>
          <a:xfrm>
            <a:off x="1417320" y="4160520"/>
            <a:ext cx="4206240" cy="640080"/>
          </a:xfrm>
          <a:prstGeom prst="rect">
            <a:avLst/>
          </a:prstGeom>
          <a:noFill/>
          <a:ln/>
        </p:spPr>
        <p:txBody>
          <a:bodyPr wrap="square" lIns="0" tIns="0" rIns="0" bIns="0" rtlCol="0" anchor="t"/>
          <a:lstStyle/>
          <a:p>
            <a:pPr indent="0" marL="0">
              <a:buNone/>
            </a:pPr>
            <a:r>
              <a:rPr lang="en-US" sz="1500" dirty="0">
                <a:solidFill>
                  <a:schemeClr val="accent6"/>
                </a:solidFill>
              </a:rPr>
              <a:t>Edited if needed, audience set</a:t>
            </a:r>
            <a:endParaRPr lang="en-US" sz="1500" dirty="0"/>
          </a:p>
        </p:txBody>
      </p:sp>
      <p:sp>
        <p:nvSpPr>
          <p:cNvPr id="17" name="Everyone told circle"/>
          <p:cNvSpPr/>
          <p:nvPr/>
        </p:nvSpPr>
        <p:spPr>
          <a:xfrm>
            <a:off x="548640" y="4892040"/>
            <a:ext cx="640080" cy="640080"/>
          </a:xfrm>
          <a:prstGeom prst="ellipse">
            <a:avLst/>
          </a:prstGeom>
          <a:solidFill>
            <a:schemeClr val="accent2"/>
          </a:solidFill>
          <a:ln w="12700">
            <a:solidFill>
              <a:schemeClr val="accent2"/>
            </a:solidFill>
            <a:prstDash val="solid"/>
          </a:ln>
        </p:spPr>
      </p:sp>
      <p:pic>
        <p:nvPicPr>
          <p:cNvPr id="18" name="Everyone told icon" descr="preencoded.png">    </p:cNvPr>
          <p:cNvPicPr>
            <a:picLocks noChangeAspect="1"/>
          </p:cNvPicPr>
          <p:nvPr/>
        </p:nvPicPr>
        <p:blipFill>
          <a:blip r:embed="rId5"/>
          <a:stretch>
            <a:fillRect/>
          </a:stretch>
        </p:blipFill>
        <p:spPr>
          <a:xfrm>
            <a:off x="708660" y="5052060"/>
            <a:ext cx="320040" cy="320040"/>
          </a:xfrm>
          <a:prstGeom prst="rect">
            <a:avLst/>
          </a:prstGeom>
        </p:spPr>
      </p:pic>
      <p:sp>
        <p:nvSpPr>
          <p:cNvPr id="19" name="Everyone told title"/>
          <p:cNvSpPr txBox="1"/>
          <p:nvPr/>
        </p:nvSpPr>
        <p:spPr>
          <a:xfrm>
            <a:off x="1417320" y="4873752"/>
            <a:ext cx="4206240" cy="384048"/>
          </a:xfrm>
          <a:prstGeom prst="rect">
            <a:avLst/>
          </a:prstGeom>
          <a:noFill/>
          <a:ln/>
        </p:spPr>
        <p:txBody>
          <a:bodyPr wrap="square" lIns="0" tIns="0" rIns="0" bIns="0" rtlCol="0" anchor="t"/>
          <a:lstStyle/>
          <a:p>
            <a:pPr indent="0" marL="0">
              <a:buNone/>
            </a:pPr>
            <a:r>
              <a:rPr lang="en-US" sz="1800" b="1" dirty="0">
                <a:solidFill>
                  <a:schemeClr val="tx1"/>
                </a:solidFill>
              </a:rPr>
              <a:t>Everyone told</a:t>
            </a:r>
            <a:endParaRPr lang="en-US" sz="1800" dirty="0"/>
          </a:p>
        </p:txBody>
      </p:sp>
      <p:sp>
        <p:nvSpPr>
          <p:cNvPr id="20" name="Everyone told detail"/>
          <p:cNvSpPr txBox="1"/>
          <p:nvPr/>
        </p:nvSpPr>
        <p:spPr>
          <a:xfrm>
            <a:off x="1417320" y="5257800"/>
            <a:ext cx="4206240" cy="640080"/>
          </a:xfrm>
          <a:prstGeom prst="rect">
            <a:avLst/>
          </a:prstGeom>
          <a:noFill/>
          <a:ln/>
        </p:spPr>
        <p:txBody>
          <a:bodyPr wrap="square" lIns="0" tIns="0" rIns="0" bIns="0" rtlCol="0" anchor="t"/>
          <a:lstStyle/>
          <a:p>
            <a:pPr indent="0" marL="0">
              <a:buNone/>
            </a:pPr>
            <a:r>
              <a:rPr lang="en-US" sz="1500" dirty="0">
                <a:solidFill>
                  <a:schemeClr val="accent6"/>
                </a:solidFill>
              </a:rPr>
              <a:t>Submitter and the audience get a notification</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Students and individuals learn and track their progress</a:t>
            </a:r>
            <a:endParaRPr lang="en-US" sz="3200" dirty="0"/>
          </a:p>
        </p:txBody>
      </p:sp>
      <p:sp>
        <p:nvSpPr>
          <p:cNvPr id="3" name="My Learning page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My Learning page" descr="My Learning page">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Courses</a:t>
            </a:r>
            <a:pPr indent="0" marL="0">
              <a:spcAft>
                <a:spcPts val="800"/>
              </a:spcAft>
              <a:buNone/>
            </a:pPr>
            <a:r>
              <a:rPr lang="en-US" sz="1600" dirty="0">
                <a:solidFill>
                  <a:schemeClr val="tx1"/>
                </a:solidFill>
              </a:rPr>
              <a:t> with objectives, modules and lessons; free to enrol</a:t>
            </a:r>
            <a:endParaRPr lang="en-US" sz="1600" dirty="0"/>
          </a:p>
          <a:p>
            <a:pPr marL="342900" indent="-342900">
              <a:spcAft>
                <a:spcPts val="800"/>
              </a:spcAft>
              <a:buSzPct val="100000"/>
              <a:buChar char="•"/>
            </a:pPr>
            <a:r>
              <a:rPr lang="en-US" sz="1600" b="1" dirty="0">
                <a:solidFill>
                  <a:schemeClr val="tx1"/>
                </a:solidFill>
              </a:rPr>
              <a:t>Progress</a:t>
            </a:r>
            <a:pPr indent="0" marL="0">
              <a:spcAft>
                <a:spcPts val="800"/>
              </a:spcAft>
              <a:buNone/>
            </a:pPr>
            <a:r>
              <a:rPr lang="en-US" sz="1600" dirty="0">
                <a:solidFill>
                  <a:schemeClr val="tx1"/>
                </a:solidFill>
              </a:rPr>
              <a:t> tracked lesson by lesson</a:t>
            </a:r>
            <a:endParaRPr lang="en-US" sz="1600" dirty="0"/>
          </a:p>
          <a:p>
            <a:pPr marL="342900" indent="-342900">
              <a:spcAft>
                <a:spcPts val="800"/>
              </a:spcAft>
              <a:buSzPct val="100000"/>
              <a:buChar char="•"/>
            </a:pPr>
            <a:r>
              <a:rPr lang="en-US" sz="1600" b="1" dirty="0">
                <a:solidFill>
                  <a:schemeClr val="tx1"/>
                </a:solidFill>
              </a:rPr>
              <a:t>Events:</a:t>
            </a:r>
            <a:pPr indent="0" marL="0">
              <a:spcAft>
                <a:spcPts val="800"/>
              </a:spcAft>
              <a:buNone/>
            </a:pPr>
            <a:r>
              <a:rPr lang="en-US" sz="1600" dirty="0">
                <a:solidFill>
                  <a:schemeClr val="tx1"/>
                </a:solidFill>
              </a:rPr>
              <a:t> register; meeting links appear only after registering</a:t>
            </a:r>
            <a:endParaRPr lang="en-US" sz="1600" dirty="0"/>
          </a:p>
          <a:p>
            <a:pPr marL="342900" indent="-342900">
              <a:spcAft>
                <a:spcPts val="800"/>
              </a:spcAft>
              <a:buSzPct val="100000"/>
              <a:buChar char="•"/>
            </a:pPr>
            <a:r>
              <a:rPr lang="en-US" sz="1600" b="1" dirty="0">
                <a:solidFill>
                  <a:schemeClr val="tx1"/>
                </a:solidFill>
              </a:rPr>
              <a:t>Feedback</a:t>
            </a:r>
            <a:pPr indent="0" marL="0">
              <a:spcAft>
                <a:spcPts val="800"/>
              </a:spcAft>
              <a:buNone/>
            </a:pPr>
            <a:r>
              <a:rPr lang="en-US" sz="1600" dirty="0">
                <a:solidFill>
                  <a:schemeClr val="tx1"/>
                </a:solidFill>
              </a:rPr>
              <a:t> on lessons, courses and events, optionally anonymous</a:t>
            </a:r>
            <a:endParaRPr lang="en-US" sz="1600" dirty="0"/>
          </a:p>
          <a:p>
            <a:pPr marL="342900" indent="-342900">
              <a:spcAft>
                <a:spcPts val="800"/>
              </a:spcAft>
              <a:buSzPct val="100000"/>
              <a:buChar char="•"/>
            </a:pPr>
            <a:r>
              <a:rPr lang="en-US" sz="1600" b="1" dirty="0">
                <a:solidFill>
                  <a:schemeClr val="tx1"/>
                </a:solidFill>
              </a:rPr>
              <a:t>Saved items</a:t>
            </a:r>
            <a:pPr indent="0" marL="0">
              <a:spcAft>
                <a:spcPts val="800"/>
              </a:spcAft>
              <a:buNone/>
            </a:pPr>
            <a:r>
              <a:rPr lang="en-US" sz="1600" dirty="0">
                <a:solidFill>
                  <a:schemeClr val="tx1"/>
                </a:solidFill>
              </a:rPr>
              <a:t> and opportunity alerts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Experts control who sees them</a:t>
            </a:r>
            <a:endParaRPr lang="en-US" sz="3200" dirty="0"/>
          </a:p>
        </p:txBody>
      </p:sp>
      <p:sp>
        <p:nvSpPr>
          <p:cNvPr id="3" name="Expert profile editor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Expert profile editor" descr="Expert profile editor">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Self-service profile:</a:t>
            </a:r>
            <a:pPr indent="0" marL="0">
              <a:spcAft>
                <a:spcPts val="800"/>
              </a:spcAft>
              <a:buNone/>
            </a:pPr>
            <a:r>
              <a:rPr lang="en-US" sz="1600" dirty="0">
                <a:solidFill>
                  <a:schemeClr val="tx1"/>
                </a:solidFill>
              </a:rPr>
              <a:t> headline, skills, expertise, mentoring</a:t>
            </a:r>
            <a:endParaRPr lang="en-US" sz="1600" dirty="0"/>
          </a:p>
          <a:p>
            <a:pPr marL="342900" indent="-342900">
              <a:spcAft>
                <a:spcPts val="800"/>
              </a:spcAft>
              <a:buSzPct val="100000"/>
              <a:buChar char="•"/>
            </a:pPr>
            <a:r>
              <a:rPr lang="en-US" sz="1600" b="1" dirty="0">
                <a:solidFill>
                  <a:schemeClr val="tx1"/>
                </a:solidFill>
              </a:rPr>
              <a:t>Visibility:</a:t>
            </a:r>
            <a:pPr indent="0" marL="0">
              <a:spcAft>
                <a:spcPts val="800"/>
              </a:spcAft>
              <a:buNone/>
            </a:pPr>
            <a:r>
              <a:rPr lang="en-US" sz="1600" dirty="0">
                <a:solidFill>
                  <a:schemeClr val="tx1"/>
                </a:solidFill>
              </a:rPr>
              <a:t> public, members only or hidden</a:t>
            </a:r>
            <a:endParaRPr lang="en-US" sz="1600" dirty="0"/>
          </a:p>
          <a:p>
            <a:pPr marL="342900" indent="-342900">
              <a:spcAft>
                <a:spcPts val="800"/>
              </a:spcAft>
              <a:buSzPct val="100000"/>
              <a:buChar char="•"/>
            </a:pPr>
            <a:r>
              <a:rPr lang="en-US" sz="1600" b="1" dirty="0">
                <a:solidFill>
                  <a:schemeClr val="tx1"/>
                </a:solidFill>
              </a:rPr>
              <a:t>Email shared</a:t>
            </a:r>
            <a:pPr indent="0" marL="0">
              <a:spcAft>
                <a:spcPts val="800"/>
              </a:spcAft>
              <a:buNone/>
            </a:pPr>
            <a:r>
              <a:rPr lang="en-US" sz="1600" dirty="0">
                <a:solidFill>
                  <a:schemeClr val="tx1"/>
                </a:solidFill>
              </a:rPr>
              <a:t> only if the expert opts in</a:t>
            </a:r>
            <a:endParaRPr lang="en-US" sz="1600" dirty="0"/>
          </a:p>
          <a:p>
            <a:pPr marL="342900" indent="-342900">
              <a:spcAft>
                <a:spcPts val="800"/>
              </a:spcAft>
              <a:buSzPct val="100000"/>
              <a:buChar char="•"/>
            </a:pPr>
            <a:r>
              <a:rPr lang="en-US" sz="1600" b="1" dirty="0">
                <a:solidFill>
                  <a:schemeClr val="tx1"/>
                </a:solidFill>
              </a:rPr>
              <a:t>New profiles</a:t>
            </a:r>
            <a:pPr indent="0" marL="0">
              <a:spcAft>
                <a:spcPts val="800"/>
              </a:spcAft>
              <a:buNone/>
            </a:pPr>
            <a:r>
              <a:rPr lang="en-US" sz="1600" dirty="0">
                <a:solidFill>
                  <a:schemeClr val="tx1"/>
                </a:solidFill>
              </a:rPr>
              <a:t> are reviewed; the expert is notified on approval</a:t>
            </a:r>
            <a:endParaRPr lang="en-US" sz="1600" dirty="0"/>
          </a:p>
          <a:p>
            <a:pPr marL="342900" indent="-342900">
              <a:spcAft>
                <a:spcPts val="800"/>
              </a:spcAft>
              <a:buSzPct val="100000"/>
              <a:buChar char="•"/>
            </a:pPr>
            <a:r>
              <a:rPr lang="en-US" sz="1600" b="1" dirty="0">
                <a:solidFill>
                  <a:schemeClr val="tx1"/>
                </a:solidFill>
              </a:rPr>
              <a:t>Connect requests</a:t>
            </a:r>
            <a:pPr indent="0" marL="0">
              <a:spcAft>
                <a:spcPts val="800"/>
              </a:spcAft>
              <a:buNone/>
            </a:pPr>
            <a:r>
              <a:rPr lang="en-US" sz="1600" dirty="0">
                <a:solidFill>
                  <a:schemeClr val="tx1"/>
                </a:solidFill>
              </a:rPr>
              <a:t> go to the secretariat, protecting experts’ time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lIns="0" tIns="0" rIns="0" bIns="0" rtlCol="0" anchor="b"/>
          <a:lstStyle/>
          <a:p>
            <a:pPr indent="0" marL="0">
              <a:buNone/>
            </a:pPr>
            <a:r>
              <a:rPr lang="en-US" sz="4400" b="1" dirty="0">
                <a:solidFill>
                  <a:schemeClr val="bg1"/>
                </a:solidFill>
              </a:rPr>
              <a:t>Biozeen staff</a:t>
            </a: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lIns="0" tIns="0" rIns="0" bIns="0" rtlCol="0" anchor="t"/>
          <a:lstStyle/>
          <a:p>
            <a:pPr indent="0" marL="0">
              <a:buNone/>
            </a:pPr>
            <a:r>
              <a:rPr lang="en-US" sz="2000" dirty="0">
                <a:solidFill>
                  <a:schemeClr val="bg2"/>
                </a:solidFill>
              </a:rPr>
              <a:t>Administrators, the content team and membership managers</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Administrators see the whole network at a glance</a:t>
            </a:r>
            <a:endParaRPr lang="en-US" sz="3200" dirty="0"/>
          </a:p>
        </p:txBody>
      </p:sp>
      <p:sp>
        <p:nvSpPr>
          <p:cNvPr id="3" name="Admin overview dashboard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Admin overview dashboard" descr="Admin overview dashboard">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Live counts</a:t>
            </a:r>
            <a:pPr indent="0" marL="0">
              <a:spcAft>
                <a:spcPts val="800"/>
              </a:spcAft>
              <a:buNone/>
            </a:pPr>
            <a:r>
              <a:rPr lang="en-US" sz="1600" dirty="0">
                <a:solidFill>
                  <a:schemeClr val="tx1"/>
                </a:solidFill>
              </a:rPr>
              <a:t> compared with the previous period</a:t>
            </a:r>
            <a:endParaRPr lang="en-US" sz="1600" dirty="0"/>
          </a:p>
          <a:p>
            <a:pPr marL="342900" indent="-342900">
              <a:spcAft>
                <a:spcPts val="800"/>
              </a:spcAft>
              <a:buSzPct val="100000"/>
              <a:buChar char="•"/>
            </a:pPr>
            <a:r>
              <a:rPr lang="en-US" sz="1600" b="1" dirty="0">
                <a:solidFill>
                  <a:schemeClr val="tx1"/>
                </a:solidFill>
              </a:rPr>
              <a:t>Charts:</a:t>
            </a:r>
            <a:pPr indent="0" marL="0">
              <a:spcAft>
                <a:spcPts val="800"/>
              </a:spcAft>
              <a:buNone/>
            </a:pPr>
            <a:r>
              <a:rPr lang="en-US" sz="1600" dirty="0">
                <a:solidFill>
                  <a:schemeClr val="tx1"/>
                </a:solidFill>
              </a:rPr>
              <a:t> membership growth, members by category, opportunities</a:t>
            </a:r>
            <a:endParaRPr lang="en-US" sz="1600" dirty="0"/>
          </a:p>
          <a:p>
            <a:pPr marL="342900" indent="-342900">
              <a:spcAft>
                <a:spcPts val="800"/>
              </a:spcAft>
              <a:buSzPct val="100000"/>
              <a:buChar char="•"/>
            </a:pPr>
            <a:r>
              <a:rPr lang="en-US" sz="1600" b="1" dirty="0">
                <a:solidFill>
                  <a:schemeClr val="tx1"/>
                </a:solidFill>
              </a:rPr>
              <a:t>Badges</a:t>
            </a:r>
            <a:pPr indent="0" marL="0">
              <a:spcAft>
                <a:spcPts val="800"/>
              </a:spcAft>
              <a:buNone/>
            </a:pPr>
            <a:r>
              <a:rPr lang="en-US" sz="1600" dirty="0">
                <a:solidFill>
                  <a:schemeClr val="tx1"/>
                </a:solidFill>
              </a:rPr>
              <a:t> for approvals, reviews and new requests</a:t>
            </a:r>
            <a:endParaRPr lang="en-US" sz="1600" dirty="0"/>
          </a:p>
          <a:p>
            <a:pPr marL="342900" indent="-342900">
              <a:spcAft>
                <a:spcPts val="800"/>
              </a:spcAft>
              <a:buSzPct val="100000"/>
              <a:buChar char="•"/>
            </a:pPr>
            <a:r>
              <a:rPr lang="en-US" sz="1600" b="1" dirty="0">
                <a:solidFill>
                  <a:schemeClr val="tx1"/>
                </a:solidFill>
              </a:rPr>
              <a:t>Roles &amp; permissions:</a:t>
            </a:r>
            <a:pPr indent="0" marL="0">
              <a:spcAft>
                <a:spcPts val="800"/>
              </a:spcAft>
              <a:buNone/>
            </a:pPr>
            <a:r>
              <a:rPr lang="en-US" sz="1600" dirty="0">
                <a:solidFill>
                  <a:schemeClr val="tx1"/>
                </a:solidFill>
              </a:rPr>
              <a:t> create roles from 16 permissions</a:t>
            </a:r>
            <a:endParaRPr lang="en-US" sz="1600" dirty="0"/>
          </a:p>
          <a:p>
            <a:pPr marL="342900" indent="-342900">
              <a:spcAft>
                <a:spcPts val="800"/>
              </a:spcAft>
              <a:buSzPct val="100000"/>
              <a:buChar char="•"/>
            </a:pPr>
            <a:r>
              <a:rPr lang="en-US" sz="1600" b="1" dirty="0">
                <a:solidFill>
                  <a:schemeClr val="tx1"/>
                </a:solidFill>
              </a:rPr>
              <a:t>Audit log</a:t>
            </a:r>
            <a:pPr indent="0" marL="0">
              <a:spcAft>
                <a:spcPts val="800"/>
              </a:spcAft>
              <a:buNone/>
            </a:pPr>
            <a:r>
              <a:rPr lang="en-US" sz="1600" dirty="0">
                <a:solidFill>
                  <a:schemeClr val="tx1"/>
                </a:solidFill>
              </a:rPr>
              <a:t> of every change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Content editors draft; publishers decide what goes live</a:t>
            </a:r>
            <a:endParaRPr lang="en-US" sz="3200" dirty="0"/>
          </a:p>
        </p:txBody>
      </p:sp>
      <p:sp>
        <p:nvSpPr>
          <p:cNvPr id="3" name="Page builder frame"/>
          <p:cNvSpPr/>
          <p:nvPr/>
        </p:nvSpPr>
        <p:spPr>
          <a:xfrm>
            <a:off x="548640" y="1490472"/>
            <a:ext cx="6528816" cy="3768471"/>
          </a:xfrm>
          <a:prstGeom prst="roundRect">
            <a:avLst>
              <a:gd name="adj" fmla="val 2912"/>
            </a:avLst>
          </a:prstGeom>
          <a:solidFill>
            <a:schemeClr val="bg2"/>
          </a:solidFill>
          <a:ln w="12700">
            <a:solidFill>
              <a:schemeClr val="bg2"/>
            </a:solidFill>
            <a:prstDash val="solid"/>
          </a:ln>
        </p:spPr>
      </p:sp>
      <p:pic>
        <p:nvPicPr>
          <p:cNvPr id="4" name="Page builder" descr="Page builder">    </p:cNvPr>
          <p:cNvPicPr>
            <a:picLocks noChangeAspect="1"/>
          </p:cNvPicPr>
          <p:nvPr/>
        </p:nvPicPr>
        <p:blipFill>
          <a:blip r:embed="rId1"/>
          <a:stretch>
            <a:fillRect/>
          </a:stretch>
        </p:blipFill>
        <p:spPr>
          <a:xfrm>
            <a:off x="658368" y="1600200"/>
            <a:ext cx="6309360" cy="3549015"/>
          </a:xfrm>
          <a:prstGeom prst="rect">
            <a:avLst/>
          </a:prstGeom>
        </p:spPr>
      </p:pic>
      <p:graphicFrame>
        <p:nvGraphicFramePr>
          <p:cNvPr id="17" name="Editor vs publisher table"/>
          <p:cNvGraphicFramePr>
            <a:graphicFrameLocks noGrp="1"/>
          </p:cNvGraphicFramePr>
          <p:nvPr>
            <p:extLst>
              <p:ext uri="{D42A27DB-BD31-4B8C-83A1-F6EECF244321}">
                <p14:modId xmlns:p14="http://schemas.microsoft.com/office/powerpoint/2010/main" val="1579011935"/>
              </p:ext>
            </p:extLst>
          </p:nvPr>
        </p:nvGraphicFramePr>
        <p:xfrm>
          <a:off x="7452360" y="1600200"/>
          <a:ext cx="4190695" cy="914400"/>
        </p:xfrm>
        <a:graphic>
          <a:graphicData uri="http://schemas.openxmlformats.org/drawingml/2006/table">
            <a:tbl>
              <a:tblPr/>
              <a:tblGrid>
                <a:gridCol w="2560320"/>
                <a:gridCol w="1005840"/>
                <a:gridCol w="1173175"/>
              </a:tblGrid>
              <a:tr h="457200">
                <a:tc>
                  <a:txBody>
                    <a:bodyPr/>
                    <a:lstStyle/>
                    <a:p>
                      <a:pPr indent="0" marL="0">
                        <a:buNone/>
                      </a:pPr>
                      <a:r>
                        <a:rPr lang="en-US" sz="1400" b="1" dirty="0">
                          <a:solidFill>
                            <a:schemeClr val="bg1"/>
                          </a:solidFill>
                        </a:rPr>
                        <a:t>Action</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Editor</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Publisher</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r>
              <a:tr h="457200">
                <a:tc>
                  <a:txBody>
                    <a:bodyPr/>
                    <a:lstStyle/>
                    <a:p>
                      <a:pPr algn="l" indent="0" marL="0">
                        <a:buNone/>
                      </a:pPr>
                      <a:r>
                        <a:rPr lang="en-US" sz="1400" b="1" dirty="0">
                          <a:solidFill>
                            <a:schemeClr val="tx1"/>
                          </a:solidFill>
                        </a:rPr>
                        <a:t>Create and edit pages</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Build with 17 block types</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Submit for review</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Publish, schedule, archive</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Delete</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bl>
          </a:graphicData>
        </a:graphic>
      </p:graphicFrame>
      <p:sp>
        <p:nvSpPr>
          <p:cNvPr id="6" name="Editor note"/>
          <p:cNvSpPr txBox="1"/>
          <p:nvPr/>
        </p:nvSpPr>
        <p:spPr>
          <a:xfrm>
            <a:off x="7452360" y="4572000"/>
            <a:ext cx="4190695" cy="822960"/>
          </a:xfrm>
          <a:prstGeom prst="rect">
            <a:avLst/>
          </a:prstGeom>
          <a:noFill/>
          <a:ln/>
        </p:spPr>
        <p:txBody>
          <a:bodyPr wrap="square" lIns="0" tIns="0" rIns="0" bIns="0" rtlCol="0" anchor="t"/>
          <a:lstStyle/>
          <a:p>
            <a:pPr indent="0" marL="0">
              <a:buNone/>
            </a:pPr>
            <a:r>
              <a:rPr lang="en-US" sz="1500" dirty="0">
                <a:solidFill>
                  <a:schemeClr val="accent6"/>
                </a:solidFill>
              </a:rPr>
              <a:t>Every item has an audience, a publish and expiry date, and a preview before saving.</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Membership managers handle approvals and records</a:t>
            </a:r>
            <a:endParaRPr lang="en-US" sz="3200" dirty="0"/>
          </a:p>
        </p:txBody>
      </p:sp>
      <p:sp>
        <p:nvSpPr>
          <p:cNvPr id="3" name="Master Database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Master Database" descr="Master Database">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Approvals</a:t>
            </a:r>
            <a:pPr indent="0" marL="0">
              <a:spcAft>
                <a:spcPts val="800"/>
              </a:spcAft>
              <a:buNone/>
            </a:pPr>
            <a:r>
              <a:rPr lang="en-US" sz="1600" dirty="0">
                <a:solidFill>
                  <a:schemeClr val="tx1"/>
                </a:solidFill>
              </a:rPr>
              <a:t> with suggested roles by category</a:t>
            </a:r>
            <a:endParaRPr lang="en-US" sz="1600" dirty="0"/>
          </a:p>
          <a:p>
            <a:pPr marL="342900" indent="-342900">
              <a:spcAft>
                <a:spcPts val="800"/>
              </a:spcAft>
              <a:buSzPct val="100000"/>
              <a:buChar char="•"/>
            </a:pPr>
            <a:r>
              <a:rPr lang="en-US" sz="1600" b="1" dirty="0">
                <a:solidFill>
                  <a:schemeClr val="tx1"/>
                </a:solidFill>
              </a:rPr>
              <a:t>Members:</a:t>
            </a:r>
            <a:pPr indent="0" marL="0">
              <a:spcAft>
                <a:spcPts val="800"/>
              </a:spcAft>
              <a:buNone/>
            </a:pPr>
            <a:r>
              <a:rPr lang="en-US" sz="1600" dirty="0">
                <a:solidFill>
                  <a:schemeClr val="tx1"/>
                </a:solidFill>
              </a:rPr>
              <a:t> edit roles, suspend (signs out at once), export CSV</a:t>
            </a:r>
            <a:endParaRPr lang="en-US" sz="1600" dirty="0"/>
          </a:p>
          <a:p>
            <a:pPr marL="342900" indent="-342900">
              <a:spcAft>
                <a:spcPts val="800"/>
              </a:spcAft>
              <a:buSzPct val="100000"/>
              <a:buChar char="•"/>
            </a:pPr>
            <a:r>
              <a:rPr lang="en-US" sz="1600" b="1" dirty="0">
                <a:solidFill>
                  <a:schemeClr val="tx1"/>
                </a:solidFill>
              </a:rPr>
              <a:t>Master Database:</a:t>
            </a:r>
            <a:pPr indent="0" marL="0">
              <a:spcAft>
                <a:spcPts val="800"/>
              </a:spcAft>
              <a:buNone/>
            </a:pPr>
            <a:r>
              <a:rPr lang="en-US" sz="1600" dirty="0">
                <a:solidFill>
                  <a:schemeClr val="tx1"/>
                </a:solidFill>
              </a:rPr>
              <a:t> organisations, experts, alumni</a:t>
            </a:r>
            <a:endParaRPr lang="en-US" sz="1600" dirty="0"/>
          </a:p>
          <a:p>
            <a:pPr marL="342900" indent="-342900">
              <a:spcAft>
                <a:spcPts val="800"/>
              </a:spcAft>
              <a:buSzPct val="100000"/>
              <a:buChar char="•"/>
            </a:pPr>
            <a:r>
              <a:rPr lang="en-US" sz="1600" b="1" dirty="0">
                <a:solidFill>
                  <a:schemeClr val="tx1"/>
                </a:solidFill>
              </a:rPr>
              <a:t>Partner profiles</a:t>
            </a:r>
            <a:pPr indent="0" marL="0">
              <a:spcAft>
                <a:spcPts val="800"/>
              </a:spcAft>
              <a:buNone/>
            </a:pPr>
            <a:r>
              <a:rPr lang="en-US" sz="1600" dirty="0">
                <a:solidFill>
                  <a:schemeClr val="tx1"/>
                </a:solidFill>
              </a:rPr>
              <a:t> go public only when approved</a:t>
            </a:r>
            <a:endParaRPr lang="en-US" sz="1600" dirty="0"/>
          </a:p>
          <a:p>
            <a:pPr marL="342900" indent="-342900">
              <a:spcAft>
                <a:spcPts val="800"/>
              </a:spcAft>
              <a:buSzPct val="100000"/>
              <a:buChar char="•"/>
            </a:pPr>
            <a:r>
              <a:rPr lang="en-US" sz="1600" b="1" dirty="0">
                <a:solidFill>
                  <a:schemeClr val="tx1"/>
                </a:solidFill>
              </a:rPr>
              <a:t>Notified</a:t>
            </a:r>
            <a:pPr indent="0" marL="0">
              <a:spcAft>
                <a:spcPts val="800"/>
              </a:spcAft>
              <a:buNone/>
            </a:pPr>
            <a:r>
              <a:rPr lang="en-US" sz="1600" dirty="0">
                <a:solidFill>
                  <a:schemeClr val="tx1"/>
                </a:solidFill>
              </a:rPr>
              <a:t> of each new registration and expert profile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Feedback analytics show what works, lesson by lesson</a:t>
            </a:r>
            <a:endParaRPr lang="en-US" sz="3200" dirty="0"/>
          </a:p>
        </p:txBody>
      </p:sp>
      <p:sp>
        <p:nvSpPr>
          <p:cNvPr id="3" name="Feedback analytics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Feedback analytics" descr="Feedback analytics">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Filter by</a:t>
            </a:r>
            <a:pPr indent="0" marL="0">
              <a:spcAft>
                <a:spcPts val="800"/>
              </a:spcAft>
              <a:buNone/>
            </a:pPr>
            <a:r>
              <a:rPr lang="en-US" sz="1600" dirty="0">
                <a:solidFill>
                  <a:schemeClr val="tx1"/>
                </a:solidFill>
              </a:rPr>
              <a:t> date, item, form, rating, category</a:t>
            </a:r>
            <a:endParaRPr lang="en-US" sz="1600" dirty="0"/>
          </a:p>
          <a:p>
            <a:pPr marL="342900" indent="-342900">
              <a:spcAft>
                <a:spcPts val="800"/>
              </a:spcAft>
              <a:buSzPct val="100000"/>
              <a:buChar char="•"/>
            </a:pPr>
            <a:r>
              <a:rPr lang="en-US" sz="1600" b="1" dirty="0">
                <a:solidFill>
                  <a:schemeClr val="tx1"/>
                </a:solidFill>
              </a:rPr>
              <a:t>Trends</a:t>
            </a:r>
            <a:pPr indent="0" marL="0">
              <a:spcAft>
                <a:spcPts val="800"/>
              </a:spcAft>
              <a:buNone/>
            </a:pPr>
            <a:r>
              <a:rPr lang="en-US" sz="1600" dirty="0">
                <a:solidFill>
                  <a:schemeClr val="tx1"/>
                </a:solidFill>
              </a:rPr>
              <a:t> and rating distribution</a:t>
            </a:r>
            <a:endParaRPr lang="en-US" sz="1600" dirty="0"/>
          </a:p>
          <a:p>
            <a:pPr marL="342900" indent="-342900">
              <a:spcAft>
                <a:spcPts val="800"/>
              </a:spcAft>
              <a:buSzPct val="100000"/>
              <a:buChar char="•"/>
            </a:pPr>
            <a:r>
              <a:rPr lang="en-US" sz="1600" b="1" dirty="0">
                <a:solidFill>
                  <a:schemeClr val="tx1"/>
                </a:solidFill>
              </a:rPr>
              <a:t>Courses &amp; lessons:</a:t>
            </a:r>
            <a:pPr indent="0" marL="0">
              <a:spcAft>
                <a:spcPts val="800"/>
              </a:spcAft>
              <a:buNone/>
            </a:pPr>
            <a:r>
              <a:rPr lang="en-US" sz="1600" dirty="0">
                <a:solidFill>
                  <a:schemeClr val="tx1"/>
                </a:solidFill>
              </a:rPr>
              <a:t> flags lessons rated below 3</a:t>
            </a:r>
            <a:endParaRPr lang="en-US" sz="1600" dirty="0"/>
          </a:p>
          <a:p>
            <a:pPr marL="342900" indent="-342900">
              <a:spcAft>
                <a:spcPts val="800"/>
              </a:spcAft>
              <a:buSzPct val="100000"/>
              <a:buChar char="•"/>
            </a:pPr>
            <a:r>
              <a:rPr lang="en-US" sz="1600" b="1" dirty="0">
                <a:solidFill>
                  <a:schemeClr val="tx1"/>
                </a:solidFill>
              </a:rPr>
              <a:t>Anonymous answers</a:t>
            </a:r>
            <a:pPr indent="0" marL="0">
              <a:spcAft>
                <a:spcPts val="800"/>
              </a:spcAft>
              <a:buNone/>
            </a:pPr>
            <a:r>
              <a:rPr lang="en-US" sz="1600" dirty="0">
                <a:solidFill>
                  <a:schemeClr val="tx1"/>
                </a:solidFill>
              </a:rPr>
              <a:t> never reveal the sender</a:t>
            </a:r>
            <a:endParaRPr lang="en-US" sz="1600" dirty="0"/>
          </a:p>
          <a:p>
            <a:pPr marL="342900" indent="-342900">
              <a:spcAft>
                <a:spcPts val="800"/>
              </a:spcAft>
              <a:buSzPct val="100000"/>
              <a:buChar char="•"/>
            </a:pPr>
            <a:r>
              <a:rPr lang="en-US" sz="1600" b="1" dirty="0">
                <a:solidFill>
                  <a:schemeClr val="tx1"/>
                </a:solidFill>
              </a:rPr>
              <a:t>CSV export</a:t>
            </a:r>
            <a:pPr indent="0" marL="0">
              <a:spcAft>
                <a:spcPts val="800"/>
              </a:spcAft>
              <a:buNone/>
            </a:pPr>
            <a:r>
              <a:rPr lang="en-US" sz="1600" dirty="0">
                <a:solidFill>
                  <a:schemeClr val="tx1"/>
                </a:solidFill>
              </a:rPr>
              <a:t> of filtered responses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Every request is tracked from first message to reply</a:t>
            </a:r>
            <a:endParaRPr lang="en-US" sz="3200" dirty="0"/>
          </a:p>
        </p:txBody>
      </p:sp>
      <p:sp>
        <p:nvSpPr>
          <p:cNvPr id="3" name="Requests inbox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Requests inbox" descr="Requests inbox">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Contact, collaboration, partnership</a:t>
            </a:r>
            <a:pPr indent="0" marL="0">
              <a:spcAft>
                <a:spcPts val="800"/>
              </a:spcAft>
              <a:buNone/>
            </a:pPr>
            <a:r>
              <a:rPr lang="en-US" sz="1600" dirty="0">
                <a:solidFill>
                  <a:schemeClr val="tx1"/>
                </a:solidFill>
              </a:rPr>
              <a:t> and expert-connect requests</a:t>
            </a:r>
            <a:endParaRPr lang="en-US" sz="1600" dirty="0"/>
          </a:p>
          <a:p>
            <a:pPr marL="342900" indent="-342900">
              <a:spcAft>
                <a:spcPts val="800"/>
              </a:spcAft>
              <a:buSzPct val="100000"/>
              <a:buChar char="•"/>
            </a:pPr>
            <a:r>
              <a:rPr lang="en-US" sz="1600" b="1" dirty="0">
                <a:solidFill>
                  <a:schemeClr val="tx1"/>
                </a:solidFill>
              </a:rPr>
              <a:t>Status</a:t>
            </a:r>
            <a:pPr indent="0" marL="0">
              <a:spcAft>
                <a:spcPts val="800"/>
              </a:spcAft>
              <a:buNone/>
            </a:pPr>
            <a:r>
              <a:rPr lang="en-US" sz="1600" dirty="0">
                <a:solidFill>
                  <a:schemeClr val="tx1"/>
                </a:solidFill>
              </a:rPr>
              <a:t> new → in progress → responded → closed</a:t>
            </a:r>
            <a:endParaRPr lang="en-US" sz="1600" dirty="0"/>
          </a:p>
          <a:p>
            <a:pPr marL="342900" indent="-342900">
              <a:spcAft>
                <a:spcPts val="800"/>
              </a:spcAft>
              <a:buSzPct val="100000"/>
              <a:buChar char="•"/>
            </a:pPr>
            <a:r>
              <a:rPr lang="en-US" sz="1600" b="1" dirty="0">
                <a:solidFill>
                  <a:schemeClr val="tx1"/>
                </a:solidFill>
              </a:rPr>
              <a:t>Assign</a:t>
            </a:r>
            <a:pPr indent="0" marL="0">
              <a:spcAft>
                <a:spcPts val="800"/>
              </a:spcAft>
              <a:buNone/>
            </a:pPr>
            <a:r>
              <a:rPr lang="en-US" sz="1600" dirty="0">
                <a:solidFill>
                  <a:schemeClr val="tx1"/>
                </a:solidFill>
              </a:rPr>
              <a:t> to a colleague; internal notes stay private</a:t>
            </a:r>
            <a:endParaRPr lang="en-US" sz="1600" dirty="0"/>
          </a:p>
          <a:p>
            <a:pPr marL="342900" indent="-342900">
              <a:spcAft>
                <a:spcPts val="800"/>
              </a:spcAft>
              <a:buSzPct val="100000"/>
              <a:buChar char="•"/>
            </a:pPr>
            <a:r>
              <a:rPr lang="en-US" sz="1600" b="1" dirty="0">
                <a:solidFill>
                  <a:schemeClr val="tx1"/>
                </a:solidFill>
              </a:rPr>
              <a:t>Replies</a:t>
            </a:r>
            <a:pPr indent="0" marL="0">
              <a:spcAft>
                <a:spcPts val="800"/>
              </a:spcAft>
              <a:buNone/>
            </a:pPr>
            <a:r>
              <a:rPr lang="en-US" sz="1600" dirty="0">
                <a:solidFill>
                  <a:schemeClr val="tx1"/>
                </a:solidFill>
              </a:rPr>
              <a:t> appear in the member’s portal instantly</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lIns="0" tIns="0" rIns="0" bIns="0" rtlCol="0" anchor="b"/>
          <a:lstStyle/>
          <a:p>
            <a:pPr indent="0" marL="0">
              <a:buNone/>
            </a:pPr>
            <a:r>
              <a:rPr lang="en-US" sz="4400" b="1" dirty="0">
                <a:solidFill>
                  <a:schemeClr val="bg1"/>
                </a:solidFill>
              </a:rPr>
              <a:t>Across the platform</a:t>
            </a: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lIns="0" tIns="0" rIns="0" bIns="0" rtlCol="0" anchor="t"/>
          <a:lstStyle/>
          <a:p>
            <a:pPr indent="0" marL="0">
              <a:buNone/>
            </a:pPr>
            <a:r>
              <a:rPr lang="en-US" sz="2000" dirty="0">
                <a:solidFill>
                  <a:schemeClr val="bg2"/>
                </a:solidFill>
              </a:rPr>
              <a:t>Notifications, appearance, security and setup</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Notifications arrive live for every role</a:t>
            </a:r>
            <a:endParaRPr lang="en-US" sz="3200" dirty="0"/>
          </a:p>
        </p:txBody>
      </p:sp>
      <p:sp>
        <p:nvSpPr>
          <p:cNvPr id="3" name="Notifications page frame"/>
          <p:cNvSpPr/>
          <p:nvPr/>
        </p:nvSpPr>
        <p:spPr>
          <a:xfrm>
            <a:off x="5681167" y="1490472"/>
            <a:ext cx="6071616" cy="3511296"/>
          </a:xfrm>
          <a:prstGeom prst="roundRect">
            <a:avLst>
              <a:gd name="adj" fmla="val 3125"/>
            </a:avLst>
          </a:prstGeom>
          <a:solidFill>
            <a:schemeClr val="bg2"/>
          </a:solidFill>
          <a:ln w="12700">
            <a:solidFill>
              <a:schemeClr val="bg2"/>
            </a:solidFill>
            <a:prstDash val="solid"/>
          </a:ln>
        </p:spPr>
      </p:sp>
      <p:pic>
        <p:nvPicPr>
          <p:cNvPr id="4" name="Notifications page" descr="Notifications page">    </p:cNvPr>
          <p:cNvPicPr>
            <a:picLocks noChangeAspect="1"/>
          </p:cNvPicPr>
          <p:nvPr/>
        </p:nvPicPr>
        <p:blipFill>
          <a:blip r:embed="rId1"/>
          <a:stretch>
            <a:fillRect/>
          </a:stretch>
        </p:blipFill>
        <p:spPr>
          <a:xfrm>
            <a:off x="5790895" y="1600200"/>
            <a:ext cx="5852160" cy="3291840"/>
          </a:xfrm>
          <a:prstGeom prst="rect">
            <a:avLst/>
          </a:prstGeom>
        </p:spPr>
      </p:pic>
      <p:graphicFrame>
        <p:nvGraphicFramePr>
          <p:cNvPr id="22" name="Notification events table"/>
          <p:cNvGraphicFramePr>
            <a:graphicFrameLocks noGrp="1"/>
          </p:cNvGraphicFramePr>
          <p:nvPr>
            <p:extLst>
              <p:ext uri="{D42A27DB-BD31-4B8C-83A1-F6EECF244321}">
                <p14:modId xmlns:p14="http://schemas.microsoft.com/office/powerpoint/2010/main" val="1579011935"/>
              </p:ext>
            </p:extLst>
          </p:nvPr>
        </p:nvGraphicFramePr>
        <p:xfrm>
          <a:off x="548640" y="1600200"/>
          <a:ext cx="5120640" cy="914400"/>
        </p:xfrm>
        <a:graphic>
          <a:graphicData uri="http://schemas.openxmlformats.org/drawingml/2006/table">
            <a:tbl>
              <a:tblPr/>
              <a:tblGrid>
                <a:gridCol w="2834640"/>
                <a:gridCol w="2286000"/>
              </a:tblGrid>
              <a:tr h="438912">
                <a:tc>
                  <a:txBody>
                    <a:bodyPr/>
                    <a:lstStyle/>
                    <a:p>
                      <a:pPr indent="0" marL="0">
                        <a:buNone/>
                      </a:pPr>
                      <a:r>
                        <a:rPr lang="en-US" sz="1300" b="1" dirty="0">
                          <a:solidFill>
                            <a:schemeClr val="bg1"/>
                          </a:solidFill>
                        </a:rPr>
                        <a:t>When…</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Who is told</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accent1"/>
                    </a:solidFill>
                  </a:tcPr>
                </a:tc>
              </a:tr>
              <a:tr h="438912">
                <a:tc>
                  <a:txBody>
                    <a:bodyPr/>
                    <a:lstStyle/>
                    <a:p>
                      <a:pPr algn="l" indent="0" marL="0">
                        <a:buNone/>
                      </a:pPr>
                      <a:r>
                        <a:rPr lang="en-US" sz="1300" b="1" dirty="0">
                          <a:solidFill>
                            <a:schemeClr val="tx1"/>
                          </a:solidFill>
                        </a:rPr>
                        <a:t>Membership approved</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The new member</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Request replied to</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The member who asked</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Submission published</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The submitter</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Announcement, opportunity, event</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Its audience</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New registration</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Membership staff</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New request</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Request handlers</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Item awaiting review</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Publishers</a:t>
                      </a:r>
                      <a:endParaRPr lang="en-US" sz="1300" dirty="0"/>
                    </a:p>
                  </a:txBody>
                  <a:tcPr marL="101600" marR="101600" marT="50800" marB="50800" anchor="ctr">
                    <a:lnL w="9525" cap="flat" cmpd="sng" algn="ctr">
                      <a:solidFill>
                        <a:srgbClr val="D5ECDC"/>
                      </a:solidFill>
                      <a:prstDash val="solid"/>
                      <a:round/>
                      <a:headEnd type="none" w="med" len="med"/>
                      <a:tailEnd type="none" w="med" len="med"/>
                    </a:lnL>
                    <a:lnR w="9525" cap="flat" cmpd="sng" algn="ctr">
                      <a:solidFill>
                        <a:srgbClr val="D5ECDC"/>
                      </a:solidFill>
                      <a:prstDash val="solid"/>
                      <a:round/>
                      <a:headEnd type="none" w="med" len="med"/>
                      <a:tailEnd type="none" w="med" len="med"/>
                    </a:lnR>
                    <a:lnT w="9525" cap="flat" cmpd="sng" algn="ctr">
                      <a:solidFill>
                        <a:srgbClr val="D5ECDC"/>
                      </a:solidFill>
                      <a:prstDash val="solid"/>
                      <a:round/>
                      <a:headEnd type="none" w="med" len="med"/>
                      <a:tailEnd type="none" w="med" len="med"/>
                    </a:lnT>
                    <a:lnB w="9525" cap="flat" cmpd="sng" algn="ctr">
                      <a:solidFill>
                        <a:srgbClr val="D5EC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Each user picks a theme colour and light or dark mode</a:t>
            </a:r>
            <a:endParaRPr lang="en-US" sz="3200" dirty="0"/>
          </a:p>
        </p:txBody>
      </p:sp>
      <p:sp>
        <p:nvSpPr>
          <p:cNvPr id="3" name="Appearance settings in dark mode frame"/>
          <p:cNvSpPr/>
          <p:nvPr/>
        </p:nvSpPr>
        <p:spPr>
          <a:xfrm>
            <a:off x="4766767" y="1490472"/>
            <a:ext cx="6986016" cy="4025646"/>
          </a:xfrm>
          <a:prstGeom prst="roundRect">
            <a:avLst>
              <a:gd name="adj" fmla="val 2726"/>
            </a:avLst>
          </a:prstGeom>
          <a:solidFill>
            <a:schemeClr val="bg2"/>
          </a:solidFill>
          <a:ln w="12700">
            <a:solidFill>
              <a:schemeClr val="bg2"/>
            </a:solidFill>
            <a:prstDash val="solid"/>
          </a:ln>
        </p:spPr>
      </p:sp>
      <p:pic>
        <p:nvPicPr>
          <p:cNvPr id="4" name="Appearance settings in dark mode" descr="Appearance settings in dark mode">    </p:cNvPr>
          <p:cNvPicPr>
            <a:picLocks noChangeAspect="1"/>
          </p:cNvPicPr>
          <p:nvPr/>
        </p:nvPicPr>
        <p:blipFill>
          <a:blip r:embed="rId1"/>
          <a:stretch>
            <a:fillRect/>
          </a:stretch>
        </p:blipFill>
        <p:spPr>
          <a:xfrm>
            <a:off x="4876495" y="1600200"/>
            <a:ext cx="6766560" cy="3806190"/>
          </a:xfrm>
          <a:prstGeom prst="rect">
            <a:avLst/>
          </a:prstGeom>
        </p:spPr>
      </p:pic>
      <p:sp>
        <p:nvSpPr>
          <p:cNvPr id="5" name="Points"/>
          <p:cNvSpPr txBox="1"/>
          <p:nvPr/>
        </p:nvSpPr>
        <p:spPr>
          <a:xfrm>
            <a:off x="548640" y="1554480"/>
            <a:ext cx="3824935"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6 theme colours,</a:t>
            </a:r>
            <a:pPr indent="0" marL="0">
              <a:spcAft>
                <a:spcPts val="800"/>
              </a:spcAft>
              <a:buNone/>
            </a:pPr>
            <a:r>
              <a:rPr lang="en-US" sz="1600" dirty="0">
                <a:solidFill>
                  <a:schemeClr val="tx1"/>
                </a:solidFill>
              </a:rPr>
              <a:t> Forest by default</a:t>
            </a:r>
            <a:endParaRPr lang="en-US" sz="1600" dirty="0"/>
          </a:p>
          <a:p>
            <a:pPr marL="342900" indent="-342900">
              <a:spcAft>
                <a:spcPts val="800"/>
              </a:spcAft>
              <a:buSzPct val="100000"/>
              <a:buChar char="•"/>
            </a:pPr>
            <a:r>
              <a:rPr lang="en-US" sz="1600" b="1" dirty="0">
                <a:solidFill>
                  <a:schemeClr val="tx1"/>
                </a:solidFill>
              </a:rPr>
              <a:t>Light, dark or system</a:t>
            </a:r>
            <a:pPr indent="0" marL="0">
              <a:spcAft>
                <a:spcPts val="800"/>
              </a:spcAft>
              <a:buNone/>
            </a:pPr>
            <a:r>
              <a:rPr lang="en-US" sz="1600" dirty="0">
                <a:solidFill>
                  <a:schemeClr val="tx1"/>
                </a:solidFill>
              </a:rPr>
              <a:t> mode</a:t>
            </a:r>
            <a:endParaRPr lang="en-US" sz="1600" dirty="0"/>
          </a:p>
          <a:p>
            <a:pPr marL="342900" indent="-342900">
              <a:spcAft>
                <a:spcPts val="800"/>
              </a:spcAft>
              <a:buSzPct val="100000"/>
              <a:buChar char="•"/>
            </a:pPr>
            <a:r>
              <a:rPr lang="en-US" sz="1600" b="1" dirty="0">
                <a:solidFill>
                  <a:schemeClr val="tx1"/>
                </a:solidFill>
              </a:rPr>
              <a:t>Live preview</a:t>
            </a:r>
            <a:pPr indent="0" marL="0">
              <a:spcAft>
                <a:spcPts val="800"/>
              </a:spcAft>
              <a:buNone/>
            </a:pPr>
            <a:r>
              <a:rPr lang="en-US" sz="1600" dirty="0">
                <a:solidFill>
                  <a:schemeClr val="tx1"/>
                </a:solidFill>
              </a:rPr>
              <a:t> before applying</a:t>
            </a:r>
            <a:endParaRPr lang="en-US" sz="1600" dirty="0"/>
          </a:p>
          <a:p>
            <a:pPr marL="342900" indent="-342900">
              <a:spcAft>
                <a:spcPts val="800"/>
              </a:spcAft>
              <a:buSzPct val="100000"/>
              <a:buChar char="•"/>
            </a:pPr>
            <a:r>
              <a:rPr lang="en-US" sz="1600" b="1" dirty="0">
                <a:solidFill>
                  <a:schemeClr val="tx1"/>
                </a:solidFill>
              </a:rPr>
              <a:t>Saved to the account:</a:t>
            </a:r>
            <a:pPr indent="0" marL="0">
              <a:spcAft>
                <a:spcPts val="800"/>
              </a:spcAft>
              <a:buNone/>
            </a:pPr>
            <a:r>
              <a:rPr lang="en-US" sz="1600" dirty="0">
                <a:solidFill>
                  <a:schemeClr val="tx1"/>
                </a:solidFill>
              </a:rPr>
              <a:t> follows the user to any device</a:t>
            </a:r>
            <a:endParaRPr lang="en-US" sz="1600" dirty="0"/>
          </a:p>
          <a:p>
            <a:pPr marL="342900" indent="-342900">
              <a:spcAft>
                <a:spcPts val="800"/>
              </a:spcAft>
              <a:buSzPct val="100000"/>
              <a:buChar char="•"/>
            </a:pPr>
            <a:r>
              <a:rPr lang="en-US" sz="1600" b="1" dirty="0">
                <a:solidFill>
                  <a:schemeClr val="tx1"/>
                </a:solidFill>
              </a:rPr>
              <a:t>One-click</a:t>
            </a:r>
            <a:pPr indent="0" marL="0">
              <a:spcAft>
                <a:spcPts val="800"/>
              </a:spcAft>
              <a:buNone/>
            </a:pPr>
            <a:r>
              <a:rPr lang="en-US" sz="1600" dirty="0">
                <a:solidFill>
                  <a:schemeClr val="tx1"/>
                </a:solidFill>
              </a:rPr>
              <a:t> light/dark toggle in the header</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Access is enforced on the server, not just in the UI</a:t>
            </a:r>
            <a:endParaRPr lang="en-US" sz="3200" dirty="0"/>
          </a:p>
        </p:txBody>
      </p:sp>
      <p:sp>
        <p:nvSpPr>
          <p:cNvPr id="3" name="Audiences on every item circle"/>
          <p:cNvSpPr/>
          <p:nvPr/>
        </p:nvSpPr>
        <p:spPr>
          <a:xfrm>
            <a:off x="548640" y="1600200"/>
            <a:ext cx="640080" cy="640080"/>
          </a:xfrm>
          <a:prstGeom prst="ellipse">
            <a:avLst/>
          </a:prstGeom>
          <a:solidFill>
            <a:schemeClr val="accent1"/>
          </a:solidFill>
          <a:ln w="12700">
            <a:solidFill>
              <a:schemeClr val="accent1"/>
            </a:solidFill>
            <a:prstDash val="solid"/>
          </a:ln>
        </p:spPr>
      </p:sp>
      <p:pic>
        <p:nvPicPr>
          <p:cNvPr id="4" name="Audiences on every item icon" descr="preencoded.png">    </p:cNvPr>
          <p:cNvPicPr>
            <a:picLocks noChangeAspect="1"/>
          </p:cNvPicPr>
          <p:nvPr/>
        </p:nvPicPr>
        <p:blipFill>
          <a:blip r:embed="rId1"/>
          <a:stretch>
            <a:fillRect/>
          </a:stretch>
        </p:blipFill>
        <p:spPr>
          <a:xfrm>
            <a:off x="708660" y="1760220"/>
            <a:ext cx="320040" cy="320040"/>
          </a:xfrm>
          <a:prstGeom prst="rect">
            <a:avLst/>
          </a:prstGeom>
        </p:spPr>
      </p:pic>
      <p:sp>
        <p:nvSpPr>
          <p:cNvPr id="5" name="Audiences on every item title"/>
          <p:cNvSpPr txBox="1"/>
          <p:nvPr/>
        </p:nvSpPr>
        <p:spPr>
          <a:xfrm>
            <a:off x="1417320" y="1554480"/>
            <a:ext cx="4404208" cy="411480"/>
          </a:xfrm>
          <a:prstGeom prst="rect">
            <a:avLst/>
          </a:prstGeom>
          <a:noFill/>
          <a:ln/>
        </p:spPr>
        <p:txBody>
          <a:bodyPr wrap="square" lIns="0" tIns="0" rIns="0" bIns="0" rtlCol="0" anchor="t"/>
          <a:lstStyle/>
          <a:p>
            <a:pPr indent="0" marL="0">
              <a:buNone/>
            </a:pPr>
            <a:r>
              <a:rPr lang="en-US" sz="1800" b="1" dirty="0">
                <a:solidFill>
                  <a:schemeClr val="tx1"/>
                </a:solidFill>
              </a:rPr>
              <a:t>Audiences on every item</a:t>
            </a:r>
            <a:endParaRPr lang="en-US" sz="1800" dirty="0"/>
          </a:p>
        </p:txBody>
      </p:sp>
      <p:sp>
        <p:nvSpPr>
          <p:cNvPr id="6" name="Audiences on every item detail"/>
          <p:cNvSpPr txBox="1"/>
          <p:nvPr/>
        </p:nvSpPr>
        <p:spPr>
          <a:xfrm>
            <a:off x="1417320" y="196596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Public, members, roles, organisations or admins, applied to lists, search and files</a:t>
            </a:r>
            <a:endParaRPr lang="en-US" sz="1500" dirty="0"/>
          </a:p>
        </p:txBody>
      </p:sp>
      <p:sp>
        <p:nvSpPr>
          <p:cNvPr id="7" name="Publication states circle"/>
          <p:cNvSpPr/>
          <p:nvPr/>
        </p:nvSpPr>
        <p:spPr>
          <a:xfrm>
            <a:off x="6324448" y="1600200"/>
            <a:ext cx="640080" cy="640080"/>
          </a:xfrm>
          <a:prstGeom prst="ellipse">
            <a:avLst/>
          </a:prstGeom>
          <a:solidFill>
            <a:schemeClr val="accent1"/>
          </a:solidFill>
          <a:ln w="12700">
            <a:solidFill>
              <a:schemeClr val="accent1"/>
            </a:solidFill>
            <a:prstDash val="solid"/>
          </a:ln>
        </p:spPr>
      </p:sp>
      <p:pic>
        <p:nvPicPr>
          <p:cNvPr id="8" name="Publication states icon" descr="preencoded.png">    </p:cNvPr>
          <p:cNvPicPr>
            <a:picLocks noChangeAspect="1"/>
          </p:cNvPicPr>
          <p:nvPr/>
        </p:nvPicPr>
        <p:blipFill>
          <a:blip r:embed="rId2"/>
          <a:stretch>
            <a:fillRect/>
          </a:stretch>
        </p:blipFill>
        <p:spPr>
          <a:xfrm>
            <a:off x="6484468" y="1760220"/>
            <a:ext cx="320040" cy="320040"/>
          </a:xfrm>
          <a:prstGeom prst="rect">
            <a:avLst/>
          </a:prstGeom>
        </p:spPr>
      </p:pic>
      <p:sp>
        <p:nvSpPr>
          <p:cNvPr id="9" name="Publication states title"/>
          <p:cNvSpPr txBox="1"/>
          <p:nvPr/>
        </p:nvSpPr>
        <p:spPr>
          <a:xfrm>
            <a:off x="7193128" y="1554480"/>
            <a:ext cx="4404208" cy="411480"/>
          </a:xfrm>
          <a:prstGeom prst="rect">
            <a:avLst/>
          </a:prstGeom>
          <a:noFill/>
          <a:ln/>
        </p:spPr>
        <p:txBody>
          <a:bodyPr wrap="square" lIns="0" tIns="0" rIns="0" bIns="0" rtlCol="0" anchor="t"/>
          <a:lstStyle/>
          <a:p>
            <a:pPr indent="0" marL="0">
              <a:buNone/>
            </a:pPr>
            <a:r>
              <a:rPr lang="en-US" sz="1800" b="1" dirty="0">
                <a:solidFill>
                  <a:schemeClr val="tx1"/>
                </a:solidFill>
              </a:rPr>
              <a:t>Publication states</a:t>
            </a:r>
            <a:endParaRPr lang="en-US" sz="1800" dirty="0"/>
          </a:p>
        </p:txBody>
      </p:sp>
      <p:sp>
        <p:nvSpPr>
          <p:cNvPr id="10" name="Publication states detail"/>
          <p:cNvSpPr txBox="1"/>
          <p:nvPr/>
        </p:nvSpPr>
        <p:spPr>
          <a:xfrm>
            <a:off x="7193128" y="196596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Draft to archived, with scheduled publish and expiry</a:t>
            </a:r>
            <a:endParaRPr lang="en-US" sz="1500" dirty="0"/>
          </a:p>
        </p:txBody>
      </p:sp>
      <p:sp>
        <p:nvSpPr>
          <p:cNvPr id="11" name="Sessions circle"/>
          <p:cNvSpPr/>
          <p:nvPr/>
        </p:nvSpPr>
        <p:spPr>
          <a:xfrm>
            <a:off x="548640" y="3063240"/>
            <a:ext cx="640080" cy="640080"/>
          </a:xfrm>
          <a:prstGeom prst="ellipse">
            <a:avLst/>
          </a:prstGeom>
          <a:solidFill>
            <a:schemeClr val="accent1"/>
          </a:solidFill>
          <a:ln w="12700">
            <a:solidFill>
              <a:schemeClr val="accent1"/>
            </a:solidFill>
            <a:prstDash val="solid"/>
          </a:ln>
        </p:spPr>
      </p:sp>
      <p:pic>
        <p:nvPicPr>
          <p:cNvPr id="12" name="Sessions icon" descr="preencoded.png">    </p:cNvPr>
          <p:cNvPicPr>
            <a:picLocks noChangeAspect="1"/>
          </p:cNvPicPr>
          <p:nvPr/>
        </p:nvPicPr>
        <p:blipFill>
          <a:blip r:embed="rId3"/>
          <a:stretch>
            <a:fillRect/>
          </a:stretch>
        </p:blipFill>
        <p:spPr>
          <a:xfrm>
            <a:off x="708660" y="3223260"/>
            <a:ext cx="320040" cy="320040"/>
          </a:xfrm>
          <a:prstGeom prst="rect">
            <a:avLst/>
          </a:prstGeom>
        </p:spPr>
      </p:pic>
      <p:sp>
        <p:nvSpPr>
          <p:cNvPr id="13" name="Sessions title"/>
          <p:cNvSpPr txBox="1"/>
          <p:nvPr/>
        </p:nvSpPr>
        <p:spPr>
          <a:xfrm>
            <a:off x="1417320" y="3017520"/>
            <a:ext cx="4404208" cy="411480"/>
          </a:xfrm>
          <a:prstGeom prst="rect">
            <a:avLst/>
          </a:prstGeom>
          <a:noFill/>
          <a:ln/>
        </p:spPr>
        <p:txBody>
          <a:bodyPr wrap="square" lIns="0" tIns="0" rIns="0" bIns="0" rtlCol="0" anchor="t"/>
          <a:lstStyle/>
          <a:p>
            <a:pPr indent="0" marL="0">
              <a:buNone/>
            </a:pPr>
            <a:r>
              <a:rPr lang="en-US" sz="1800" b="1" dirty="0">
                <a:solidFill>
                  <a:schemeClr val="tx1"/>
                </a:solidFill>
              </a:rPr>
              <a:t>Sessions</a:t>
            </a:r>
            <a:endParaRPr lang="en-US" sz="1800" dirty="0"/>
          </a:p>
        </p:txBody>
      </p:sp>
      <p:sp>
        <p:nvSpPr>
          <p:cNvPr id="14" name="Sessions detail"/>
          <p:cNvSpPr txBox="1"/>
          <p:nvPr/>
        </p:nvSpPr>
        <p:spPr>
          <a:xfrm>
            <a:off x="1417320" y="342900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httpOnly cookies, re-checked on every request; suspension takes effect at once</a:t>
            </a:r>
            <a:endParaRPr lang="en-US" sz="1500" dirty="0"/>
          </a:p>
        </p:txBody>
      </p:sp>
      <p:sp>
        <p:nvSpPr>
          <p:cNvPr id="15" name="Sign-in codes circle"/>
          <p:cNvSpPr/>
          <p:nvPr/>
        </p:nvSpPr>
        <p:spPr>
          <a:xfrm>
            <a:off x="6324448" y="3063240"/>
            <a:ext cx="640080" cy="640080"/>
          </a:xfrm>
          <a:prstGeom prst="ellipse">
            <a:avLst/>
          </a:prstGeom>
          <a:solidFill>
            <a:schemeClr val="accent1"/>
          </a:solidFill>
          <a:ln w="12700">
            <a:solidFill>
              <a:schemeClr val="accent1"/>
            </a:solidFill>
            <a:prstDash val="solid"/>
          </a:ln>
        </p:spPr>
      </p:sp>
      <p:pic>
        <p:nvPicPr>
          <p:cNvPr id="16" name="Sign-in codes icon" descr="preencoded.png">    </p:cNvPr>
          <p:cNvPicPr>
            <a:picLocks noChangeAspect="1"/>
          </p:cNvPicPr>
          <p:nvPr/>
        </p:nvPicPr>
        <p:blipFill>
          <a:blip r:embed="rId4"/>
          <a:stretch>
            <a:fillRect/>
          </a:stretch>
        </p:blipFill>
        <p:spPr>
          <a:xfrm>
            <a:off x="6484468" y="3223260"/>
            <a:ext cx="320040" cy="320040"/>
          </a:xfrm>
          <a:prstGeom prst="rect">
            <a:avLst/>
          </a:prstGeom>
        </p:spPr>
      </p:pic>
      <p:sp>
        <p:nvSpPr>
          <p:cNvPr id="17" name="Sign-in codes title"/>
          <p:cNvSpPr txBox="1"/>
          <p:nvPr/>
        </p:nvSpPr>
        <p:spPr>
          <a:xfrm>
            <a:off x="7193128" y="3017520"/>
            <a:ext cx="4404208" cy="411480"/>
          </a:xfrm>
          <a:prstGeom prst="rect">
            <a:avLst/>
          </a:prstGeom>
          <a:noFill/>
          <a:ln/>
        </p:spPr>
        <p:txBody>
          <a:bodyPr wrap="square" lIns="0" tIns="0" rIns="0" bIns="0" rtlCol="0" anchor="t"/>
          <a:lstStyle/>
          <a:p>
            <a:pPr indent="0" marL="0">
              <a:buNone/>
            </a:pPr>
            <a:r>
              <a:rPr lang="en-US" sz="1800" b="1" dirty="0">
                <a:solidFill>
                  <a:schemeClr val="tx1"/>
                </a:solidFill>
              </a:rPr>
              <a:t>Sign-in codes</a:t>
            </a:r>
            <a:endParaRPr lang="en-US" sz="1800" dirty="0"/>
          </a:p>
        </p:txBody>
      </p:sp>
      <p:sp>
        <p:nvSpPr>
          <p:cNvPr id="18" name="Sign-in codes detail"/>
          <p:cNvSpPr txBox="1"/>
          <p:nvPr/>
        </p:nvSpPr>
        <p:spPr>
          <a:xfrm>
            <a:off x="7193128" y="342900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Optional emailed 6-digit code, rate-limited and single-use</a:t>
            </a:r>
            <a:endParaRPr lang="en-US" sz="1500" dirty="0"/>
          </a:p>
        </p:txBody>
      </p:sp>
      <p:sp>
        <p:nvSpPr>
          <p:cNvPr id="19" name="Protected files circle"/>
          <p:cNvSpPr/>
          <p:nvPr/>
        </p:nvSpPr>
        <p:spPr>
          <a:xfrm>
            <a:off x="548640" y="4526280"/>
            <a:ext cx="640080" cy="640080"/>
          </a:xfrm>
          <a:prstGeom prst="ellipse">
            <a:avLst/>
          </a:prstGeom>
          <a:solidFill>
            <a:schemeClr val="accent1"/>
          </a:solidFill>
          <a:ln w="12700">
            <a:solidFill>
              <a:schemeClr val="accent1"/>
            </a:solidFill>
            <a:prstDash val="solid"/>
          </a:ln>
        </p:spPr>
      </p:sp>
      <p:pic>
        <p:nvPicPr>
          <p:cNvPr id="20" name="Protected files icon" descr="preencoded.png">    </p:cNvPr>
          <p:cNvPicPr>
            <a:picLocks noChangeAspect="1"/>
          </p:cNvPicPr>
          <p:nvPr/>
        </p:nvPicPr>
        <p:blipFill>
          <a:blip r:embed="rId5"/>
          <a:stretch>
            <a:fillRect/>
          </a:stretch>
        </p:blipFill>
        <p:spPr>
          <a:xfrm>
            <a:off x="708660" y="4686300"/>
            <a:ext cx="320040" cy="320040"/>
          </a:xfrm>
          <a:prstGeom prst="rect">
            <a:avLst/>
          </a:prstGeom>
        </p:spPr>
      </p:pic>
      <p:sp>
        <p:nvSpPr>
          <p:cNvPr id="21" name="Protected files title"/>
          <p:cNvSpPr txBox="1"/>
          <p:nvPr/>
        </p:nvSpPr>
        <p:spPr>
          <a:xfrm>
            <a:off x="1417320" y="4480560"/>
            <a:ext cx="4404208" cy="411480"/>
          </a:xfrm>
          <a:prstGeom prst="rect">
            <a:avLst/>
          </a:prstGeom>
          <a:noFill/>
          <a:ln/>
        </p:spPr>
        <p:txBody>
          <a:bodyPr wrap="square" lIns="0" tIns="0" rIns="0" bIns="0" rtlCol="0" anchor="t"/>
          <a:lstStyle/>
          <a:p>
            <a:pPr indent="0" marL="0">
              <a:buNone/>
            </a:pPr>
            <a:r>
              <a:rPr lang="en-US" sz="1800" b="1" dirty="0">
                <a:solidFill>
                  <a:schemeClr val="tx1"/>
                </a:solidFill>
              </a:rPr>
              <a:t>Protected files</a:t>
            </a:r>
            <a:endParaRPr lang="en-US" sz="1800" dirty="0"/>
          </a:p>
        </p:txBody>
      </p:sp>
      <p:sp>
        <p:nvSpPr>
          <p:cNvPr id="22" name="Protected files detail"/>
          <p:cNvSpPr txBox="1"/>
          <p:nvPr/>
        </p:nvSpPr>
        <p:spPr>
          <a:xfrm>
            <a:off x="1417320" y="489204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Downloads follow the access of the page that uses them</a:t>
            </a:r>
            <a:endParaRPr lang="en-US" sz="1500" dirty="0"/>
          </a:p>
        </p:txBody>
      </p:sp>
      <p:sp>
        <p:nvSpPr>
          <p:cNvPr id="23" name="Anonymous feedback circle"/>
          <p:cNvSpPr/>
          <p:nvPr/>
        </p:nvSpPr>
        <p:spPr>
          <a:xfrm>
            <a:off x="6324448" y="4526280"/>
            <a:ext cx="640080" cy="640080"/>
          </a:xfrm>
          <a:prstGeom prst="ellipse">
            <a:avLst/>
          </a:prstGeom>
          <a:solidFill>
            <a:schemeClr val="accent1"/>
          </a:solidFill>
          <a:ln w="12700">
            <a:solidFill>
              <a:schemeClr val="accent1"/>
            </a:solidFill>
            <a:prstDash val="solid"/>
          </a:ln>
        </p:spPr>
      </p:sp>
      <p:pic>
        <p:nvPicPr>
          <p:cNvPr id="24" name="Anonymous feedback icon" descr="preencoded.png">    </p:cNvPr>
          <p:cNvPicPr>
            <a:picLocks noChangeAspect="1"/>
          </p:cNvPicPr>
          <p:nvPr/>
        </p:nvPicPr>
        <p:blipFill>
          <a:blip r:embed="rId6"/>
          <a:stretch>
            <a:fillRect/>
          </a:stretch>
        </p:blipFill>
        <p:spPr>
          <a:xfrm>
            <a:off x="6484468" y="4686300"/>
            <a:ext cx="320040" cy="320040"/>
          </a:xfrm>
          <a:prstGeom prst="rect">
            <a:avLst/>
          </a:prstGeom>
        </p:spPr>
      </p:pic>
      <p:sp>
        <p:nvSpPr>
          <p:cNvPr id="25" name="Anonymous feedback title"/>
          <p:cNvSpPr txBox="1"/>
          <p:nvPr/>
        </p:nvSpPr>
        <p:spPr>
          <a:xfrm>
            <a:off x="7193128" y="4480560"/>
            <a:ext cx="4404208" cy="411480"/>
          </a:xfrm>
          <a:prstGeom prst="rect">
            <a:avLst/>
          </a:prstGeom>
          <a:noFill/>
          <a:ln/>
        </p:spPr>
        <p:txBody>
          <a:bodyPr wrap="square" lIns="0" tIns="0" rIns="0" bIns="0" rtlCol="0" anchor="t"/>
          <a:lstStyle/>
          <a:p>
            <a:pPr indent="0" marL="0">
              <a:buNone/>
            </a:pPr>
            <a:r>
              <a:rPr lang="en-US" sz="1800" b="1" dirty="0">
                <a:solidFill>
                  <a:schemeClr val="tx1"/>
                </a:solidFill>
              </a:rPr>
              <a:t>Anonymous feedback</a:t>
            </a:r>
            <a:endParaRPr lang="en-US" sz="1800" dirty="0"/>
          </a:p>
        </p:txBody>
      </p:sp>
      <p:sp>
        <p:nvSpPr>
          <p:cNvPr id="26" name="Anonymous feedback detail"/>
          <p:cNvSpPr txBox="1"/>
          <p:nvPr/>
        </p:nvSpPr>
        <p:spPr>
          <a:xfrm>
            <a:off x="7193128" y="4892040"/>
            <a:ext cx="4404208" cy="822960"/>
          </a:xfrm>
          <a:prstGeom prst="rect">
            <a:avLst/>
          </a:prstGeom>
          <a:noFill/>
          <a:ln/>
        </p:spPr>
        <p:txBody>
          <a:bodyPr wrap="square" lIns="0" tIns="0" rIns="0" bIns="0" rtlCol="0" anchor="t"/>
          <a:lstStyle/>
          <a:p>
            <a:pPr indent="0" marL="0">
              <a:buNone/>
            </a:pPr>
            <a:r>
              <a:rPr lang="en-US" sz="1500" dirty="0">
                <a:solidFill>
                  <a:schemeClr val="accent6"/>
                </a:solidFill>
              </a:rPr>
              <a:t>Stores no identity, even for administrators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14400"/>
          </a:xfrm>
          <a:prstGeom prst="rect">
            <a:avLst/>
          </a:prstGeom>
          <a:noFill/>
          <a:ln/>
        </p:spPr>
        <p:txBody>
          <a:bodyPr wrap="square" lIns="0" tIns="0" rIns="0" bIns="0" rtlCol="0" anchor="ctr"/>
          <a:lstStyle/>
          <a:p>
            <a:pPr indent="0" marL="0">
              <a:buNone/>
            </a:pPr>
            <a:r>
              <a:rPr lang="en-US" sz="3200" b="1" dirty="0">
                <a:solidFill>
                  <a:schemeClr val="tx1"/>
                </a:solidFill>
              </a:rPr>
              <a:t>A new machine is ready with one command</a:t>
            </a:r>
            <a:endParaRPr lang="en-US" sz="3200" dirty="0"/>
          </a:p>
        </p:txBody>
      </p:sp>
      <p:sp>
        <p:nvSpPr>
          <p:cNvPr id="3" name="Data card"/>
          <p:cNvSpPr/>
          <p:nvPr/>
        </p:nvSpPr>
        <p:spPr>
          <a:xfrm>
            <a:off x="548640" y="1600200"/>
            <a:ext cx="5394960" cy="3566160"/>
          </a:xfrm>
          <a:prstGeom prst="roundRect">
            <a:avLst>
              <a:gd name="adj" fmla="val 2564"/>
            </a:avLst>
          </a:prstGeom>
          <a:solidFill>
            <a:schemeClr val="bg2"/>
          </a:solidFill>
          <a:ln w="12700">
            <a:solidFill>
              <a:schemeClr val="bg2"/>
            </a:solidFill>
            <a:prstDash val="solid"/>
          </a:ln>
        </p:spPr>
      </p:sp>
      <p:sp>
        <p:nvSpPr>
          <p:cNvPr id="4" name="Data circle"/>
          <p:cNvSpPr/>
          <p:nvPr/>
        </p:nvSpPr>
        <p:spPr>
          <a:xfrm>
            <a:off x="868680" y="1874520"/>
            <a:ext cx="640080" cy="640080"/>
          </a:xfrm>
          <a:prstGeom prst="ellipse">
            <a:avLst/>
          </a:prstGeom>
          <a:solidFill>
            <a:schemeClr val="accent1"/>
          </a:solidFill>
          <a:ln w="12700">
            <a:solidFill>
              <a:schemeClr val="accent1"/>
            </a:solidFill>
            <a:prstDash val="solid"/>
          </a:ln>
        </p:spPr>
      </p:sp>
      <p:pic>
        <p:nvPicPr>
          <p:cNvPr id="5" name="Data icon" descr="preencoded.png">    </p:cNvPr>
          <p:cNvPicPr>
            <a:picLocks noChangeAspect="1"/>
          </p:cNvPicPr>
          <p:nvPr/>
        </p:nvPicPr>
        <p:blipFill>
          <a:blip r:embed="rId1"/>
          <a:stretch>
            <a:fillRect/>
          </a:stretch>
        </p:blipFill>
        <p:spPr>
          <a:xfrm>
            <a:off x="1028700" y="2034540"/>
            <a:ext cx="320040" cy="320040"/>
          </a:xfrm>
          <a:prstGeom prst="rect">
            <a:avLst/>
          </a:prstGeom>
        </p:spPr>
      </p:pic>
      <p:sp>
        <p:nvSpPr>
          <p:cNvPr id="6" name="Data title"/>
          <p:cNvSpPr txBox="1"/>
          <p:nvPr/>
        </p:nvSpPr>
        <p:spPr>
          <a:xfrm>
            <a:off x="1737360" y="1965960"/>
            <a:ext cx="3931920" cy="457200"/>
          </a:xfrm>
          <a:prstGeom prst="rect">
            <a:avLst/>
          </a:prstGeom>
          <a:noFill/>
          <a:ln/>
        </p:spPr>
        <p:txBody>
          <a:bodyPr wrap="square" lIns="0" tIns="0" rIns="0" bIns="0" rtlCol="0" anchor="t"/>
          <a:lstStyle/>
          <a:p>
            <a:pPr indent="0" marL="0">
              <a:buNone/>
            </a:pPr>
            <a:r>
              <a:rPr lang="en-US" sz="2000" b="1" dirty="0">
                <a:solidFill>
                  <a:schemeClr val="tx1"/>
                </a:solidFill>
              </a:rPr>
              <a:t>Move the data</a:t>
            </a:r>
            <a:endParaRPr lang="en-US" sz="2000" dirty="0"/>
          </a:p>
        </p:txBody>
      </p:sp>
      <p:sp>
        <p:nvSpPr>
          <p:cNvPr id="7" name="Data steps"/>
          <p:cNvSpPr txBox="1"/>
          <p:nvPr/>
        </p:nvSpPr>
        <p:spPr>
          <a:xfrm>
            <a:off x="868680" y="2743200"/>
            <a:ext cx="4754880" cy="228600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npm run db:export</a:t>
            </a:r>
            <a:pPr indent="0" marL="0">
              <a:spcAft>
                <a:spcPts val="800"/>
              </a:spcAft>
              <a:buNone/>
            </a:pPr>
            <a:r>
              <a:rPr lang="en-US" sz="1500" dirty="0">
                <a:solidFill>
                  <a:schemeClr val="tx1"/>
                </a:solidFill>
              </a:rPr>
              <a:t> saves every collection and uploaded file to db/data</a:t>
            </a:r>
            <a:endParaRPr lang="en-US" sz="1500" dirty="0"/>
          </a:p>
          <a:p>
            <a:pPr marL="342900" indent="-342900">
              <a:spcAft>
                <a:spcPts val="800"/>
              </a:spcAft>
              <a:buSzPct val="100000"/>
              <a:buChar char="•"/>
            </a:pPr>
            <a:r>
              <a:rPr lang="en-US" sz="1500" b="1" dirty="0">
                <a:solidFill>
                  <a:schemeClr val="tx1"/>
                </a:solidFill>
              </a:rPr>
              <a:t>Commit db/data;</a:t>
            </a:r>
            <a:pPr indent="0" marL="0">
              <a:spcAft>
                <a:spcPts val="800"/>
              </a:spcAft>
              <a:buNone/>
            </a:pPr>
            <a:r>
              <a:rPr lang="en-US" sz="1500" dirty="0">
                <a:solidFill>
                  <a:schemeClr val="tx1"/>
                </a:solidFill>
              </a:rPr>
              <a:t> on the new machine run npm run db:import</a:t>
            </a:r>
            <a:endParaRPr lang="en-US" sz="1500" dirty="0"/>
          </a:p>
          <a:p>
            <a:pPr marL="342900" indent="-342900">
              <a:spcAft>
                <a:spcPts val="800"/>
              </a:spcAft>
              <a:buSzPct val="100000"/>
              <a:buChar char="•"/>
            </a:pPr>
            <a:r>
              <a:rPr lang="en-US" sz="1500" b="1" dirty="0">
                <a:solidFill>
                  <a:schemeClr val="tx1"/>
                </a:solidFill>
              </a:rPr>
              <a:t>Or just start the server:</a:t>
            </a:r>
            <a:pPr indent="0" marL="0">
              <a:spcAft>
                <a:spcPts val="800"/>
              </a:spcAft>
              <a:buNone/>
            </a:pPr>
            <a:r>
              <a:rPr lang="en-US" sz="1500" dirty="0">
                <a:solidFill>
                  <a:schemeClr val="tx1"/>
                </a:solidFill>
              </a:rPr>
              <a:t> an empty database fills itself from db/data, or from sample data</a:t>
            </a:r>
            <a:endParaRPr lang="en-US" sz="1500" dirty="0"/>
          </a:p>
        </p:txBody>
      </p:sp>
      <p:sp>
        <p:nvSpPr>
          <p:cNvPr id="8" name="Config card"/>
          <p:cNvSpPr/>
          <p:nvPr/>
        </p:nvSpPr>
        <p:spPr>
          <a:xfrm>
            <a:off x="6400800" y="1600200"/>
            <a:ext cx="5242255" cy="3566160"/>
          </a:xfrm>
          <a:prstGeom prst="roundRect">
            <a:avLst>
              <a:gd name="adj" fmla="val 2564"/>
            </a:avLst>
          </a:prstGeom>
          <a:solidFill>
            <a:schemeClr val="bg2"/>
          </a:solidFill>
          <a:ln w="12700">
            <a:solidFill>
              <a:schemeClr val="bg2"/>
            </a:solidFill>
            <a:prstDash val="solid"/>
          </a:ln>
        </p:spPr>
      </p:sp>
      <p:sp>
        <p:nvSpPr>
          <p:cNvPr id="9" name="Config circle"/>
          <p:cNvSpPr/>
          <p:nvPr/>
        </p:nvSpPr>
        <p:spPr>
          <a:xfrm>
            <a:off x="6720840" y="1874520"/>
            <a:ext cx="640080" cy="640080"/>
          </a:xfrm>
          <a:prstGeom prst="ellipse">
            <a:avLst/>
          </a:prstGeom>
          <a:solidFill>
            <a:schemeClr val="accent1"/>
          </a:solidFill>
          <a:ln w="12700">
            <a:solidFill>
              <a:schemeClr val="accent1"/>
            </a:solidFill>
            <a:prstDash val="solid"/>
          </a:ln>
        </p:spPr>
      </p:sp>
      <p:pic>
        <p:nvPicPr>
          <p:cNvPr id="10" name="Config icon" descr="preencoded.png">    </p:cNvPr>
          <p:cNvPicPr>
            <a:picLocks noChangeAspect="1"/>
          </p:cNvPicPr>
          <p:nvPr/>
        </p:nvPicPr>
        <p:blipFill>
          <a:blip r:embed="rId2"/>
          <a:stretch>
            <a:fillRect/>
          </a:stretch>
        </p:blipFill>
        <p:spPr>
          <a:xfrm>
            <a:off x="6880860" y="2034540"/>
            <a:ext cx="320040" cy="320040"/>
          </a:xfrm>
          <a:prstGeom prst="rect">
            <a:avLst/>
          </a:prstGeom>
        </p:spPr>
      </p:pic>
      <p:sp>
        <p:nvSpPr>
          <p:cNvPr id="11" name="Config title"/>
          <p:cNvSpPr txBox="1"/>
          <p:nvPr/>
        </p:nvSpPr>
        <p:spPr>
          <a:xfrm>
            <a:off x="7589520" y="1965960"/>
            <a:ext cx="3931920" cy="457200"/>
          </a:xfrm>
          <a:prstGeom prst="rect">
            <a:avLst/>
          </a:prstGeom>
          <a:noFill/>
          <a:ln/>
        </p:spPr>
        <p:txBody>
          <a:bodyPr wrap="square" lIns="0" tIns="0" rIns="0" bIns="0" rtlCol="0" anchor="t"/>
          <a:lstStyle/>
          <a:p>
            <a:pPr indent="0" marL="0">
              <a:buNone/>
            </a:pPr>
            <a:r>
              <a:rPr lang="en-US" sz="2000" b="1" dirty="0">
                <a:solidFill>
                  <a:schemeClr val="tx1"/>
                </a:solidFill>
              </a:rPr>
              <a:t>Switch features on</a:t>
            </a:r>
            <a:endParaRPr lang="en-US" sz="2000" dirty="0"/>
          </a:p>
        </p:txBody>
      </p:sp>
      <p:sp>
        <p:nvSpPr>
          <p:cNvPr id="12" name="Config steps"/>
          <p:cNvSpPr txBox="1"/>
          <p:nvPr/>
        </p:nvSpPr>
        <p:spPr>
          <a:xfrm>
            <a:off x="6720840" y="2743200"/>
            <a:ext cx="4602175" cy="228600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EMAIL_ENABLED + SMTP_*</a:t>
            </a:r>
            <a:pPr indent="0" marL="0">
              <a:spcAft>
                <a:spcPts val="800"/>
              </a:spcAft>
              <a:buNone/>
            </a:pPr>
            <a:r>
              <a:rPr lang="en-US" sz="1500" dirty="0">
                <a:solidFill>
                  <a:schemeClr val="tx1"/>
                </a:solidFill>
              </a:rPr>
              <a:t> sends real emails; off = written to the log</a:t>
            </a:r>
            <a:endParaRPr lang="en-US" sz="1500" dirty="0"/>
          </a:p>
          <a:p>
            <a:pPr marL="342900" indent="-342900">
              <a:spcAft>
                <a:spcPts val="800"/>
              </a:spcAft>
              <a:buSzPct val="100000"/>
              <a:buChar char="•"/>
            </a:pPr>
            <a:r>
              <a:rPr lang="en-US" sz="1500" b="1" dirty="0">
                <a:solidFill>
                  <a:schemeClr val="tx1"/>
                </a:solidFill>
              </a:rPr>
              <a:t>LOGIN_OTP_ENABLED</a:t>
            </a:r>
            <a:pPr indent="0" marL="0">
              <a:spcAft>
                <a:spcPts val="800"/>
              </a:spcAft>
              <a:buNone/>
            </a:pPr>
            <a:r>
              <a:rPr lang="en-US" sz="1500" dirty="0">
                <a:solidFill>
                  <a:schemeClr val="tx1"/>
                </a:solidFill>
              </a:rPr>
              <a:t> requires a sign-in code</a:t>
            </a:r>
            <a:endParaRPr lang="en-US" sz="1500" dirty="0"/>
          </a:p>
          <a:p>
            <a:pPr marL="342900" indent="-342900">
              <a:spcAft>
                <a:spcPts val="800"/>
              </a:spcAft>
              <a:buSzPct val="100000"/>
              <a:buChar char="•"/>
            </a:pPr>
            <a:r>
              <a:rPr lang="en-US" sz="1500" b="1" dirty="0">
                <a:solidFill>
                  <a:schemeClr val="tx1"/>
                </a:solidFill>
              </a:rPr>
              <a:t>REQUIRE_APPROVAL / _EMAIL_VERIFICATION</a:t>
            </a:r>
            <a:pPr indent="0" marL="0">
              <a:spcAft>
                <a:spcPts val="800"/>
              </a:spcAft>
              <a:buNone/>
            </a:pPr>
            <a:r>
              <a:rPr lang="en-US" sz="1500" dirty="0">
                <a:solidFill>
                  <a:schemeClr val="tx1"/>
                </a:solidFill>
              </a:rPr>
              <a:t> control joining</a:t>
            </a:r>
            <a:endParaRPr lang="en-US" sz="1500" dirty="0"/>
          </a:p>
          <a:p>
            <a:pPr marL="342900" indent="-342900">
              <a:spcAft>
                <a:spcPts val="800"/>
              </a:spcAft>
              <a:buSzPct val="100000"/>
              <a:buChar char="•"/>
            </a:pPr>
            <a:r>
              <a:rPr lang="en-US" sz="1500" b="1" dirty="0">
                <a:solidFill>
                  <a:schemeClr val="tx1"/>
                </a:solidFill>
              </a:rPr>
              <a:t>AUTO_INIT_DB</a:t>
            </a:r>
            <a:pPr indent="0" marL="0">
              <a:spcAft>
                <a:spcPts val="800"/>
              </a:spcAft>
              <a:buNone/>
            </a:pPr>
            <a:r>
              <a:rPr lang="en-US" sz="1500" dirty="0">
                <a:solidFill>
                  <a:schemeClr val="tx1"/>
                </a:solidFill>
              </a:rPr>
              <a:t> fills an empty database on first start</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315200" cy="1463040"/>
          </a:xfrm>
          <a:prstGeom prst="rect">
            <a:avLst/>
          </a:prstGeom>
          <a:noFill/>
          <a:ln/>
        </p:spPr>
        <p:txBody>
          <a:bodyPr wrap="square" lIns="0" tIns="0" rIns="0" bIns="0" rtlCol="0" anchor="b"/>
          <a:lstStyle/>
          <a:p>
            <a:pPr indent="0" marL="0">
              <a:buNone/>
            </a:pPr>
            <a:r>
              <a:rPr lang="en-US" sz="4400" b="1" dirty="0">
                <a:solidFill>
                  <a:schemeClr val="bg1"/>
                </a:solidFill>
              </a:rPr>
              <a:t>Before launch</a:t>
            </a:r>
            <a:endParaRPr lang="en-US" sz="4400" dirty="0"/>
          </a:p>
        </p:txBody>
      </p:sp>
      <p:sp>
        <p:nvSpPr>
          <p:cNvPr id="3" name="Text 0"/>
          <p:cNvSpPr/>
          <p:nvPr>
            <p:ph idx="101" type="body" hasCustomPrompt="1"/>
          </p:nvPr>
        </p:nvSpPr>
        <p:spPr>
          <a:xfrm>
            <a:off x="731520" y="3474720"/>
            <a:ext cx="6949440" cy="2468880"/>
          </a:xfrm>
          <a:prstGeom prst="rect">
            <a:avLst/>
          </a:prstGeom>
          <a:noFill/>
          <a:ln/>
        </p:spPr>
        <p:txBody>
          <a:bodyPr wrap="square" lIns="0" tIns="0" rIns="0" bIns="0" rtlCol="0" anchor="t"/>
          <a:lstStyle/>
          <a:p>
            <a:pPr marL="342900" indent="-342900">
              <a:buSzPct val="100000"/>
              <a:buChar char="•"/>
            </a:pPr>
            <a:r>
              <a:rPr lang="en-US" sz="2000" dirty="0">
                <a:solidFill>
                  <a:schemeClr val="bg2"/>
                </a:solidFill>
              </a:rPr>
              <a:t>Replace sample content and logos</a:t>
            </a:r>
            <a:endParaRPr lang="en-US" sz="2000" dirty="0"/>
          </a:p>
          <a:p>
            <a:pPr marL="342900" indent="-342900">
              <a:buSzPct val="100000"/>
              <a:buChar char="•"/>
            </a:pPr>
            <a:r>
              <a:rPr lang="en-US" sz="2000" dirty="0">
                <a:solidFill>
                  <a:schemeClr val="bg2"/>
                </a:solidFill>
              </a:rPr>
              <a:t>Change the demo passwords</a:t>
            </a:r>
            <a:endParaRPr lang="en-US" sz="2000" dirty="0"/>
          </a:p>
          <a:p>
            <a:pPr marL="342900" indent="-342900">
              <a:buSzPct val="100000"/>
              <a:buChar char="•"/>
            </a:pPr>
            <a:r>
              <a:rPr lang="en-US" sz="2000" dirty="0">
                <a:solidFill>
                  <a:schemeClr val="bg2"/>
                </a:solidFill>
              </a:rPr>
              <a:t>Connect a mailbox, then decide on sign-in codes</a:t>
            </a:r>
            <a:endParaRPr lang="en-US" sz="2000" dirty="0"/>
          </a:p>
          <a:p>
            <a:pPr marL="342900" indent="-342900">
              <a:buSzPct val="100000"/>
              <a:buChar char="•"/>
            </a:pPr>
            <a:r>
              <a:rPr lang="en-US" sz="2000" dirty="0">
                <a:solidFill>
                  <a:schemeClr val="bg2"/>
                </a:solidFill>
              </a:rPr>
              <a:t>Review roles and permissions</a:t>
            </a:r>
            <a:endParaRPr lang="en-US" sz="2000" dirty="0"/>
          </a:p>
          <a:p>
            <a:pPr marL="342900" indent="-342900">
              <a:buSzPct val="100000"/>
              <a:buChar char="•"/>
            </a:pPr>
            <a:r>
              <a:rPr lang="en-US" sz="2000" dirty="0">
                <a:solidFill>
                  <a:schemeClr val="bg2"/>
                </a:solidFill>
              </a:rPr>
              <a:t>Schedule database and upload backups</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BIAN">
  <a:themeElements>
    <a:clrScheme name="BIAN">
      <a:dk1>
        <a:srgbClr val="0F2A4A"/>
      </a:dk1>
      <a:lt1>
        <a:srgbClr val="FFFFFF"/>
      </a:lt1>
      <a:dk2>
        <a:srgbClr val="0B4D3B"/>
      </a:dk2>
      <a:lt2>
        <a:srgbClr val="EEF7F1"/>
      </a:lt2>
      <a:accent1>
        <a:srgbClr val="136445"/>
      </a:accent1>
      <a:accent2>
        <a:srgbClr val="8BD346"/>
      </a:accent2>
      <a:accent3>
        <a:srgbClr val="1D4F96"/>
      </a:accent3>
      <a:accent4>
        <a:srgbClr val="B9532B"/>
      </a:accent4>
      <a:accent5>
        <a:srgbClr val="7A3273"/>
      </a:accent5>
      <a:accent6>
        <a:srgbClr val="5D6B7C"/>
      </a:accent6>
      <a:hlink>
        <a:srgbClr val="136445"/>
      </a:hlink>
      <a:folHlink>
        <a:srgbClr val="0B4D3B"/>
      </a:folHlink>
    </a:clrScheme>
    <a:fontScheme name="BI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BIAN Platform Overview</dc:title>
  <dc:subject>BIAN website and member platform, role by role</dc:subject>
  <dc:creator>Biozeen</dc:creator>
  <cp:lastModifiedBy>Biozeen</cp:lastModifiedBy>
  <cp:revision>1</cp:revision>
  <dcterms:created xsi:type="dcterms:W3CDTF">2026-10-26T09:23:13Z</dcterms:created>
  <dcterms:modified xsi:type="dcterms:W3CDTF">2026-10-26T09:23:13Z</dcterms:modified>
</cp:coreProperties>
</file>